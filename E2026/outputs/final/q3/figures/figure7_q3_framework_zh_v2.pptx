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EBEF"/>
    <a:srgbClr val="FF99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3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B2F6E-C13C-405E-9244-31E14638FD10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450CE-6051-4DA8-9C66-AE49E069A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450CE-6051-4DA8-9C66-AE49E069A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388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33268-EBB1-0987-04F9-0629C3BB9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F2EBB7-AB52-E64B-1463-DF50AE2FB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3FED9-18E8-6844-2D55-5B0BDF94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238B9-1BCF-412E-07B9-4FF1A2B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3551-8E33-6AEE-3FD8-015E07F2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8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523EA-A024-D359-A75D-E0160519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A204D-452F-572D-A1E7-EF1DFE2D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10999-EFC6-A82F-983B-B8D907AC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9B806-EFB7-CAA6-E7ED-ECC64EA9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3E86B-9BB6-08C7-6298-2A16AD8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601B5-C8FC-380A-9A81-9AE61763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A2378-ECAE-66DC-8509-C95B8B135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CED9A-4004-401A-4059-BF024230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9C2D-5A12-2935-C4D2-37917A4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D9F3B-51EB-6C93-47A2-B42C6353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28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1A5C0-9CC0-A1A0-086F-5A6ECDC3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62C2-3101-BB9E-3A6D-018B7D8B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ED201-0BD2-3D9E-236C-F097E459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5D645-B7E0-CE0D-49A0-BDD9BBA3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C5762B-184D-5D8D-2381-6EB0999C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8ECC-103B-8C37-3EBE-377F9B83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F3C9A-396A-359A-44BE-5C92198D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8773D-E00F-456A-A9BD-761EC8CC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69A68-8944-4DB0-0CDD-0CD1C48B6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D7DC4A-427E-8673-B88B-94A87F2C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358AD-4517-5533-E6CC-D0BB74DAE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138579-84BE-E4D2-EA98-26EACB0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3D00C3-4137-AC6C-61E7-3009709D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B515B0-6B90-AE67-AB70-E0267DB1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43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2F4DC-3E38-A6C9-D3A4-599907EA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A5FE29-7F9A-FA15-CB9D-D98C63E2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530954-265C-F302-9C35-A0D9C320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10F4A-1BEE-7C1B-0EB7-26138F0F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B6DF67-6CBA-02DC-8FF6-455B0E3B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3A9FF-8650-004F-E9F6-D025DC2E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1DDD16-5C97-EE96-7587-5B286E1E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3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266FD-6153-059A-79DB-B85FBF85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F3C83-305A-C9AF-C940-508C4716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A13E9-6E6F-8E90-7D45-D3EB5C76A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4895F-9AC2-EC43-8606-36EDFAE2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6DFD8-72B1-5B41-1BE7-0A811C40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83C9E-F967-5B78-720D-28B1F9E1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D65C4-65CE-F8FA-DE0F-283DF3D5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0816B-B55A-7782-2BC6-4B68FD148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301984-0FDF-F477-39CC-A1C7C7B5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C5A408-3542-0EBC-FC30-1C8AC68E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D2916-4AB1-0CCC-2799-DBA987DB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2314BA-058B-1E8D-959E-36F64740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6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B687-1133-BF5C-574B-4876B5DE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D0CCF-BD47-2D2B-607A-0E8C55A7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151DD-AD1F-4A14-1AF9-E97E7E9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16EA-2EA3-7383-EA2C-2CE2108A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3F547-1168-CF92-CA1B-18DF013F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68765-5485-4602-D0DD-DA643B2AC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97B1AD-11C8-B14D-F445-626225AAC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C14AE-5313-A20E-B942-F44DC09F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1F598-B4B1-3B1E-7D11-3B49114E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90314-E416-38F8-A4BB-939AC8AD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612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C359F0-6C00-F18B-B47B-CE1622D3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28C29-A14D-658D-521B-8E5932B4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D6ABB-D385-B1BC-3BCA-01672EBAD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EE03-A3DB-4490-BAF0-994C85018154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1AA5D-31D7-1B58-C809-B5CDF2AF4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F1262-617C-9C24-AE20-9D84F672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jpeg"/><Relationship Id="rId22" Type="http://schemas.openxmlformats.org/officeDocument/2006/relationships/image" Target="../media/image20.jpeg"/><Relationship Id="rId23" Type="http://schemas.openxmlformats.org/officeDocument/2006/relationships/image" Target="../media/image21.jpeg"/><Relationship Id="rId2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8872" y="749808"/>
            <a:ext cx="3429000" cy="5230368"/>
          </a:xfrm>
          <a:prstGeom prst="roundRect">
            <a:avLst>
              <a:gd name="adj" fmla="val 12000"/>
            </a:avLst>
          </a:prstGeom>
          <a:noFill/>
          <a:ln w="14604">
            <a:solidFill>
              <a:srgbClr val="A9D3E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39312" y="621792"/>
            <a:ext cx="5431536" cy="5266944"/>
          </a:xfrm>
          <a:prstGeom prst="roundRect">
            <a:avLst>
              <a:gd name="adj" fmla="val 12000"/>
            </a:avLst>
          </a:prstGeom>
          <a:noFill/>
          <a:ln w="14604">
            <a:solidFill>
              <a:srgbClr val="D7CDE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54312" y="585216"/>
            <a:ext cx="2606040" cy="2816352"/>
          </a:xfrm>
          <a:prstGeom prst="roundRect">
            <a:avLst>
              <a:gd name="adj" fmla="val 12000"/>
            </a:avLst>
          </a:prstGeom>
          <a:noFill/>
          <a:ln w="14604">
            <a:solidFill>
              <a:srgbClr val="EFD9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4312" y="3602736"/>
            <a:ext cx="2743200" cy="2350008"/>
          </a:xfrm>
          <a:prstGeom prst="roundRect">
            <a:avLst>
              <a:gd name="adj" fmla="val 12000"/>
            </a:avLst>
          </a:prstGeom>
          <a:noFill/>
          <a:ln w="14604">
            <a:solidFill>
              <a:srgbClr val="C9DAD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"/>
            <a:ext cx="11109960" cy="347472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43A40"/>
                </a:solidFill>
                <a:latin typeface="Microsoft YaHei"/>
              </a:rPr>
              <a:t>图7  多模态情感预测与层级证据归因框架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4632"/>
            <a:ext cx="213969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"/>
            <a:ext cx="2048255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①  多模态输入与表示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" y="2542032"/>
            <a:ext cx="3081528" cy="0"/>
          </a:xfrm>
          <a:prstGeom prst="line">
            <a:avLst/>
          </a:prstGeom>
          <a:ln w="10160">
            <a:solidFill>
              <a:srgbClr val="E2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4096512"/>
            <a:ext cx="3081528" cy="0"/>
          </a:xfrm>
          <a:prstGeom prst="line">
            <a:avLst/>
          </a:prstGeom>
          <a:ln w="10160">
            <a:solidFill>
              <a:srgbClr val="E2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9184" y="1115568"/>
            <a:ext cx="91440" cy="256032"/>
          </a:xfrm>
          <a:prstGeom prst="rect">
            <a:avLst/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097280"/>
            <a:ext cx="621792" cy="31089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文本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715768"/>
            <a:ext cx="91440" cy="256032"/>
          </a:xfrm>
          <a:prstGeom prst="rect">
            <a:avLst/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697480"/>
            <a:ext cx="621792" cy="31089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音频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4251959"/>
            <a:ext cx="91440" cy="256032"/>
          </a:xfrm>
          <a:prstGeom prst="rect">
            <a:avLst/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233672"/>
            <a:ext cx="621792" cy="31089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视觉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" y="1435608"/>
            <a:ext cx="1499616" cy="630936"/>
          </a:xfrm>
          <a:prstGeom prst="roundRect">
            <a:avLst>
              <a:gd name="adj" fmla="val 12000"/>
            </a:avLst>
          </a:prstGeom>
          <a:solidFill>
            <a:srgbClr val="EF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1463040"/>
            <a:ext cx="1408175" cy="576071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43A40"/>
                </a:solidFill>
                <a:latin typeface="Microsoft YaHei"/>
              </a:rPr>
              <a:t>“I did not like this movie at all”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2093976"/>
            <a:ext cx="1426464" cy="20116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7B"/>
                </a:solidFill>
                <a:latin typeface="Microsoft YaHei"/>
              </a:rPr>
              <a:t>原文片段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" y="3191256"/>
            <a:ext cx="1335024" cy="0"/>
          </a:xfrm>
          <a:prstGeom prst="line">
            <a:avLst/>
          </a:prstGeom>
          <a:ln w="5715">
            <a:solidFill>
              <a:srgbClr val="D4B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" y="3158029"/>
            <a:ext cx="0" cy="6645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8260" y="3154678"/>
            <a:ext cx="0" cy="7315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7608" y="3154068"/>
            <a:ext cx="0" cy="7437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6956" y="3154005"/>
            <a:ext cx="0" cy="7450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6304" y="3156156"/>
            <a:ext cx="0" cy="7019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5652" y="3159659"/>
            <a:ext cx="0" cy="6319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5001" y="3129200"/>
            <a:ext cx="0" cy="12411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4349" y="3088625"/>
            <a:ext cx="0" cy="20526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3697" y="3101380"/>
            <a:ext cx="0" cy="17975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3045" y="3099354"/>
            <a:ext cx="0" cy="18380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2393" y="3085309"/>
            <a:ext cx="0" cy="21189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1741" y="3095093"/>
            <a:ext cx="0" cy="19232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1090" y="3113228"/>
            <a:ext cx="0" cy="15605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0438" y="3153906"/>
            <a:ext cx="0" cy="7469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9786" y="3117646"/>
            <a:ext cx="0" cy="14721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9134" y="2976721"/>
            <a:ext cx="0" cy="42906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8482" y="2884932"/>
            <a:ext cx="0" cy="612648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7830" y="3003757"/>
            <a:ext cx="0" cy="37499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87179" y="3091967"/>
            <a:ext cx="0" cy="19857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6527" y="3006484"/>
            <a:ext cx="0" cy="36954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5875" y="3050429"/>
            <a:ext cx="0" cy="28165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5223" y="3023942"/>
            <a:ext cx="0" cy="33462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64571" y="3134797"/>
            <a:ext cx="0" cy="11291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83919" y="3106858"/>
            <a:ext cx="0" cy="16879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03268" y="3143158"/>
            <a:ext cx="0" cy="9619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22616" y="3144800"/>
            <a:ext cx="0" cy="9291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1964" y="3102807"/>
            <a:ext cx="0" cy="17689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61312" y="3121749"/>
            <a:ext cx="0" cy="13901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0660" y="3138257"/>
            <a:ext cx="0" cy="10599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00009" y="3134742"/>
            <a:ext cx="0" cy="11302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19357" y="3112487"/>
            <a:ext cx="0" cy="15753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38705" y="3121597"/>
            <a:ext cx="0" cy="13931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58053" y="3130229"/>
            <a:ext cx="0" cy="12205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77401" y="3114240"/>
            <a:ext cx="0" cy="15403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96749" y="3129405"/>
            <a:ext cx="0" cy="12370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116098" y="3124707"/>
            <a:ext cx="0" cy="13309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35446" y="3120204"/>
            <a:ext cx="0" cy="14210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54794" y="3123819"/>
            <a:ext cx="0" cy="13487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74142" y="3146469"/>
            <a:ext cx="0" cy="8957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93490" y="3137672"/>
            <a:ext cx="0" cy="10716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212838" y="3134745"/>
            <a:ext cx="0" cy="11302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32187" y="3138055"/>
            <a:ext cx="0" cy="10640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251535" y="3140740"/>
            <a:ext cx="0" cy="10103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270883" y="3108491"/>
            <a:ext cx="0" cy="16552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90231" y="3139289"/>
            <a:ext cx="0" cy="10393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09579" y="3122350"/>
            <a:ext cx="0" cy="13781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328927" y="3152284"/>
            <a:ext cx="0" cy="7794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348276" y="3140402"/>
            <a:ext cx="0" cy="10170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367624" y="3136979"/>
            <a:ext cx="0" cy="10855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386972" y="3141271"/>
            <a:ext cx="0" cy="9996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406320" y="3143871"/>
            <a:ext cx="0" cy="9476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425668" y="3114263"/>
            <a:ext cx="0" cy="15398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45017" y="3089176"/>
            <a:ext cx="0" cy="20415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64365" y="3146490"/>
            <a:ext cx="0" cy="8953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483713" y="3154478"/>
            <a:ext cx="0" cy="7355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503061" y="3150660"/>
            <a:ext cx="0" cy="8119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522409" y="3129113"/>
            <a:ext cx="0" cy="12428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541757" y="3136365"/>
            <a:ext cx="0" cy="109781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561106" y="3129268"/>
            <a:ext cx="0" cy="12397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580454" y="3125138"/>
            <a:ext cx="0" cy="13223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599802" y="3125876"/>
            <a:ext cx="0" cy="13075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619150" y="3136972"/>
            <a:ext cx="0" cy="10856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638498" y="3125747"/>
            <a:ext cx="0" cy="13101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657846" y="3069318"/>
            <a:ext cx="0" cy="24387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677195" y="3032364"/>
            <a:ext cx="0" cy="317783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696543" y="3071508"/>
            <a:ext cx="0" cy="23949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715891" y="3074627"/>
            <a:ext cx="0" cy="23325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735239" y="3038048"/>
            <a:ext cx="0" cy="306415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754587" y="3102091"/>
            <a:ext cx="0" cy="178329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773936" y="3105877"/>
            <a:ext cx="0" cy="170757"/>
          </a:xfrm>
          <a:prstGeom prst="line">
            <a:avLst/>
          </a:prstGeom>
          <a:ln w="12700">
            <a:solidFill>
              <a:srgbClr val="A67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65760" y="3538728"/>
            <a:ext cx="1499616" cy="21945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7B"/>
                </a:solidFill>
                <a:latin typeface="Microsoft YaHei"/>
              </a:rPr>
              <a:t>原视频音轨波形</a:t>
            </a:r>
          </a:p>
        </p:txBody>
      </p:sp>
      <p:pic>
        <p:nvPicPr>
          <p:cNvPr id="92" name="Picture 91" descr="figure7_sample09_context_fram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9768" y="4562856"/>
            <a:ext cx="1371600" cy="10287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310896" y="5632704"/>
            <a:ext cx="1664208" cy="192024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65717B"/>
                </a:solidFill>
                <a:latin typeface="Microsoft YaHei"/>
              </a:rPr>
              <a:t>原视频场景（非定位帧）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883664" y="1883664"/>
            <a:ext cx="182879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1997963" y="1815084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112264" y="1572768"/>
            <a:ext cx="1225296" cy="649224"/>
          </a:xfrm>
          <a:prstGeom prst="roundRect">
            <a:avLst>
              <a:gd name="adj" fmla="val 12000"/>
            </a:avLst>
          </a:prstGeom>
          <a:solidFill>
            <a:srgbClr val="EF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157984" y="1600200"/>
            <a:ext cx="1133856" cy="594359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文本特征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50 × 768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883664" y="3438144"/>
            <a:ext cx="182879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5400000">
            <a:off x="1997963" y="3369563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2112264" y="3127248"/>
            <a:ext cx="1225296" cy="649224"/>
          </a:xfrm>
          <a:prstGeom prst="roundRect">
            <a:avLst>
              <a:gd name="adj" fmla="val 12000"/>
            </a:avLst>
          </a:prstGeom>
          <a:solidFill>
            <a:srgbClr val="FCF8EA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57984" y="3154679"/>
            <a:ext cx="1133856" cy="594359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音频特征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50 × 74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883664" y="5001768"/>
            <a:ext cx="182879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Isosceles Triangle 102"/>
          <p:cNvSpPr/>
          <p:nvPr/>
        </p:nvSpPr>
        <p:spPr>
          <a:xfrm rot="5400000">
            <a:off x="1997963" y="4933188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112264" y="4690872"/>
            <a:ext cx="1225296" cy="649224"/>
          </a:xfrm>
          <a:prstGeom prst="roundRect">
            <a:avLst>
              <a:gd name="adj" fmla="val 12000"/>
            </a:avLst>
          </a:prstGeom>
          <a:solidFill>
            <a:srgbClr val="FCF1F0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57984" y="4718304"/>
            <a:ext cx="1133856" cy="594359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视觉特征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50 × 35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3456432" y="3191256"/>
            <a:ext cx="356616" cy="0"/>
          </a:xfrm>
          <a:prstGeom prst="line">
            <a:avLst/>
          </a:prstGeom>
          <a:ln w="2540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 rot="5400000">
            <a:off x="3744468" y="3122676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700016" y="420624"/>
            <a:ext cx="3273552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45736" y="448056"/>
            <a:ext cx="3182112" cy="347472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②  情感预测与 HEAF 解释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86200" y="969264"/>
            <a:ext cx="1188720" cy="283464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AE"/>
                </a:solidFill>
                <a:latin typeface="Microsoft YaHei"/>
              </a:rPr>
              <a:t>情感预测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886200" y="1380744"/>
            <a:ext cx="97840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931920" y="1408176"/>
            <a:ext cx="886968" cy="72237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Microsoft YaHei"/>
              </a:rPr>
              <a:t>三模态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Microsoft YaHei"/>
              </a:rPr>
              <a:t>特征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50791" y="2011680"/>
            <a:ext cx="155448" cy="73152"/>
          </a:xfrm>
          <a:prstGeom prst="rect">
            <a:avLst/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261104" y="2011680"/>
            <a:ext cx="155448" cy="73152"/>
          </a:xfrm>
          <a:prstGeom prst="rect">
            <a:avLst/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471416" y="2011680"/>
            <a:ext cx="155448" cy="73152"/>
          </a:xfrm>
          <a:prstGeom prst="rect">
            <a:avLst/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4892040" y="1764792"/>
            <a:ext cx="228600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5052059" y="169621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5148072" y="1380744"/>
            <a:ext cx="1325880" cy="777240"/>
          </a:xfrm>
          <a:prstGeom prst="roundRect">
            <a:avLst>
              <a:gd name="adj" fmla="val 12000"/>
            </a:avLst>
          </a:prstGeom>
          <a:solidFill>
            <a:srgbClr val="EF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193792" y="1408176"/>
            <a:ext cx="1234439" cy="72237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3A40"/>
                </a:solidFill>
                <a:latin typeface="Microsoft YaHei"/>
              </a:rPr>
              <a:t>均值池化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3A40"/>
                </a:solidFill>
                <a:latin typeface="Microsoft YaHei"/>
              </a:rPr>
              <a:t>＋注意力残差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492240" y="1764792"/>
            <a:ext cx="228600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Isosceles Triangle 120"/>
          <p:cNvSpPr/>
          <p:nvPr/>
        </p:nvSpPr>
        <p:spPr>
          <a:xfrm rot="5400000">
            <a:off x="6652259" y="169621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6748272" y="1380744"/>
            <a:ext cx="89611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793992" y="1408176"/>
            <a:ext cx="804672" cy="72237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多模态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融合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671816" y="1764792"/>
            <a:ext cx="173736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Isosceles Triangle 124"/>
          <p:cNvSpPr/>
          <p:nvPr/>
        </p:nvSpPr>
        <p:spPr>
          <a:xfrm rot="5400000">
            <a:off x="7776972" y="169621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7872983" y="1380744"/>
            <a:ext cx="932688" cy="777240"/>
          </a:xfrm>
          <a:prstGeom prst="roundRect">
            <a:avLst>
              <a:gd name="adj" fmla="val 12000"/>
            </a:avLst>
          </a:prstGeom>
          <a:solidFill>
            <a:srgbClr val="F6F3FA"/>
          </a:solidFill>
          <a:ln w="12700">
            <a:solidFill>
              <a:srgbClr val="C9B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918704" y="1408176"/>
            <a:ext cx="841248" cy="72237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类别预测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强度预测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3840480" y="2478024"/>
            <a:ext cx="5001768" cy="0"/>
          </a:xfrm>
          <a:prstGeom prst="line">
            <a:avLst/>
          </a:prstGeom>
          <a:ln w="10160">
            <a:solidFill>
              <a:srgbClr val="D4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327648" y="2203704"/>
            <a:ext cx="0" cy="539496"/>
          </a:xfrm>
          <a:prstGeom prst="line">
            <a:avLst/>
          </a:prstGeom>
          <a:ln w="15875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Isosceles Triangle 129"/>
          <p:cNvSpPr/>
          <p:nvPr/>
        </p:nvSpPr>
        <p:spPr>
          <a:xfrm rot="10800000">
            <a:off x="6259068" y="2674620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886200" y="2734056"/>
            <a:ext cx="2304288" cy="32004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F6FAE"/>
                </a:solidFill>
                <a:latin typeface="Microsoft YaHei"/>
              </a:rPr>
              <a:t>HEAF 层级解释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886200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922776" y="4261104"/>
            <a:ext cx="1078992" cy="27432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八种联盟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157216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193792" y="4261104"/>
            <a:ext cx="1078992" cy="27432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Shapley贡献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428232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64808" y="4261104"/>
            <a:ext cx="1078992" cy="27432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两两交互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699248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735823" y="4261104"/>
            <a:ext cx="1078992" cy="27432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时间遮挡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5047488" y="3913632"/>
            <a:ext cx="82295" cy="0"/>
          </a:xfrm>
          <a:prstGeom prst="line">
            <a:avLst/>
          </a:prstGeom>
          <a:ln w="15875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Isosceles Triangle 140"/>
          <p:cNvSpPr/>
          <p:nvPr/>
        </p:nvSpPr>
        <p:spPr>
          <a:xfrm rot="5400000">
            <a:off x="5061203" y="384505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6318504" y="3913632"/>
            <a:ext cx="82296" cy="0"/>
          </a:xfrm>
          <a:prstGeom prst="line">
            <a:avLst/>
          </a:prstGeom>
          <a:ln w="15875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sosceles Triangle 142"/>
          <p:cNvSpPr/>
          <p:nvPr/>
        </p:nvSpPr>
        <p:spPr>
          <a:xfrm rot="5400000">
            <a:off x="6332220" y="384505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7589520" y="3913632"/>
            <a:ext cx="82296" cy="0"/>
          </a:xfrm>
          <a:prstGeom prst="line">
            <a:avLst/>
          </a:prstGeom>
          <a:ln w="15875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Isosceles Triangle 144"/>
          <p:cNvSpPr/>
          <p:nvPr/>
        </p:nvSpPr>
        <p:spPr>
          <a:xfrm rot="5400000">
            <a:off x="7603236" y="384505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995928" y="350215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251960" y="350215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4507992" y="350215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764024" y="350215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995928" y="377647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251960" y="377647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507992" y="377647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764024" y="3776472"/>
            <a:ext cx="201168" cy="182880"/>
          </a:xfrm>
          <a:prstGeom prst="rect">
            <a:avLst/>
          </a:prstGeom>
          <a:solidFill>
            <a:srgbClr val="EFF7FB"/>
          </a:solidFill>
          <a:ln w="889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330952" y="3474720"/>
            <a:ext cx="676656" cy="118872"/>
          </a:xfrm>
          <a:prstGeom prst="rect">
            <a:avLst/>
          </a:prstGeom>
          <a:solidFill>
            <a:srgbClr val="A9D3E9"/>
          </a:solidFill>
          <a:ln w="381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330952" y="3721608"/>
            <a:ext cx="566928" cy="118872"/>
          </a:xfrm>
          <a:prstGeom prst="rect">
            <a:avLst/>
          </a:prstGeom>
          <a:solidFill>
            <a:srgbClr val="EFD98B"/>
          </a:solidFill>
          <a:ln w="381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5330952" y="3968496"/>
            <a:ext cx="475488" cy="118872"/>
          </a:xfrm>
          <a:prstGeom prst="rect">
            <a:avLst/>
          </a:prstGeom>
          <a:solidFill>
            <a:srgbClr val="EFB7B2"/>
          </a:solidFill>
          <a:ln w="381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6693408" y="3557016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7059168" y="3557016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876288" y="3931920"/>
            <a:ext cx="118872" cy="118872"/>
          </a:xfrm>
          <a:prstGeom prst="roundRect">
            <a:avLst>
              <a:gd name="adj" fmla="val 12000"/>
            </a:avLst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6766560" y="3630168"/>
            <a:ext cx="347472" cy="0"/>
          </a:xfrm>
          <a:prstGeom prst="line">
            <a:avLst/>
          </a:prstGeom>
          <a:ln w="12700">
            <a:solidFill>
              <a:srgbClr val="65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766560" y="3657600"/>
            <a:ext cx="146304" cy="274320"/>
          </a:xfrm>
          <a:prstGeom prst="line">
            <a:avLst/>
          </a:prstGeom>
          <a:ln w="12700">
            <a:solidFill>
              <a:srgbClr val="65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6922008" y="3657600"/>
            <a:ext cx="192024" cy="274320"/>
          </a:xfrm>
          <a:prstGeom prst="line">
            <a:avLst/>
          </a:prstGeom>
          <a:ln w="12700">
            <a:solidFill>
              <a:srgbClr val="65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7790688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886700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982712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078723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174736" y="3657600"/>
            <a:ext cx="82296" cy="292608"/>
          </a:xfrm>
          <a:prstGeom prst="rect">
            <a:avLst/>
          </a:prstGeom>
          <a:solidFill>
            <a:srgbClr val="FBE5C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270748" y="3657600"/>
            <a:ext cx="82296" cy="292608"/>
          </a:xfrm>
          <a:prstGeom prst="rect">
            <a:avLst/>
          </a:prstGeom>
          <a:solidFill>
            <a:srgbClr val="FBE5C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8366760" y="3657600"/>
            <a:ext cx="82296" cy="292608"/>
          </a:xfrm>
          <a:prstGeom prst="rect">
            <a:avLst/>
          </a:prstGeom>
          <a:solidFill>
            <a:srgbClr val="FBE5C7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462772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8558784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8654796" y="3657600"/>
            <a:ext cx="82296" cy="292608"/>
          </a:xfrm>
          <a:prstGeom prst="rect">
            <a:avLst/>
          </a:prstGeom>
          <a:solidFill>
            <a:srgbClr val="E7EEF2"/>
          </a:solidFill>
          <a:ln w="127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754112" y="3977639"/>
            <a:ext cx="1033271" cy="18288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5717B"/>
                </a:solidFill>
                <a:latin typeface="Microsoft YaHei"/>
              </a:rPr>
              <a:t>连续特征槽位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986784" y="5001768"/>
            <a:ext cx="4745736" cy="457200"/>
          </a:xfrm>
          <a:prstGeom prst="roundRect">
            <a:avLst>
              <a:gd name="adj" fmla="val 12000"/>
            </a:avLst>
          </a:prstGeom>
          <a:solidFill>
            <a:srgbClr val="F6F3FA"/>
          </a:solidFill>
          <a:ln w="12700">
            <a:solidFill>
              <a:srgbClr val="D7C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032504" y="5029200"/>
            <a:ext cx="4654296" cy="402336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Microsoft YaHei"/>
              </a:rPr>
              <a:t>主导模态  ·  模态交互  ·  关键特征区间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114800" y="5541264"/>
            <a:ext cx="4507992" cy="192024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5717B"/>
                </a:solidFill>
                <a:latin typeface="Microsoft YaHei"/>
              </a:rPr>
              <a:t>精确归因  →  局部遮挡  →  删除对照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9052560" y="1773936"/>
            <a:ext cx="347472" cy="0"/>
          </a:xfrm>
          <a:prstGeom prst="line">
            <a:avLst/>
          </a:prstGeom>
          <a:ln w="2286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Isosceles Triangle 177"/>
          <p:cNvSpPr/>
          <p:nvPr/>
        </p:nvSpPr>
        <p:spPr>
          <a:xfrm rot="5400000">
            <a:off x="9331452" y="1705356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9052560" y="4882896"/>
            <a:ext cx="347472" cy="0"/>
          </a:xfrm>
          <a:prstGeom prst="line">
            <a:avLst/>
          </a:prstGeom>
          <a:ln w="2286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Isosceles Triangle 179"/>
          <p:cNvSpPr/>
          <p:nvPr/>
        </p:nvSpPr>
        <p:spPr>
          <a:xfrm rot="5400000">
            <a:off x="9331452" y="4814316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9674352" y="438912"/>
            <a:ext cx="195681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720072" y="466344"/>
            <a:ext cx="1865376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③  解释结果输出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701784" y="1033271"/>
            <a:ext cx="1892807" cy="356616"/>
          </a:xfrm>
          <a:prstGeom prst="roundRect">
            <a:avLst>
              <a:gd name="adj" fmla="val 12000"/>
            </a:avLst>
          </a:prstGeom>
          <a:solidFill>
            <a:srgbClr val="FCF8EA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747504" y="1060704"/>
            <a:ext cx="1801367" cy="301752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43A40"/>
                </a:solidFill>
                <a:latin typeface="Microsoft YaHei"/>
              </a:rPr>
              <a:t>解释卡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573768" y="1499616"/>
            <a:ext cx="58521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19488" y="1527048"/>
            <a:ext cx="493776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预测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0259568" y="1499616"/>
            <a:ext cx="1389888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305288" y="1527048"/>
            <a:ext cx="1298448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343A40"/>
                </a:solidFill>
                <a:latin typeface="Microsoft YaHei"/>
              </a:rPr>
              <a:t>类别 · 情感强度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9573768" y="2029967"/>
            <a:ext cx="58521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619488" y="2057399"/>
            <a:ext cx="493776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模态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0259568" y="2029967"/>
            <a:ext cx="1389888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0305288" y="2057399"/>
            <a:ext cx="1298448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343A40"/>
                </a:solidFill>
                <a:latin typeface="Microsoft YaHei"/>
              </a:rPr>
              <a:t>贡献 · 主导模态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573768" y="2560320"/>
            <a:ext cx="58521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619488" y="2587751"/>
            <a:ext cx="493776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343A40"/>
                </a:solidFill>
                <a:latin typeface="Microsoft YaHei"/>
              </a:rPr>
              <a:t>局部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259568" y="2560320"/>
            <a:ext cx="1389888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305288" y="2587751"/>
            <a:ext cx="1298448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343A40"/>
                </a:solidFill>
                <a:latin typeface="Microsoft YaHei"/>
              </a:rPr>
              <a:t>交互 · 特征区间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10671048" y="3429000"/>
            <a:ext cx="0" cy="283463"/>
          </a:xfrm>
          <a:prstGeom prst="line">
            <a:avLst/>
          </a:prstGeom>
          <a:ln w="2159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Isosceles Triangle 197"/>
          <p:cNvSpPr/>
          <p:nvPr/>
        </p:nvSpPr>
        <p:spPr>
          <a:xfrm rot="10800000">
            <a:off x="10602468" y="3643883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9601200" y="3474720"/>
            <a:ext cx="2212848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A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646920" y="3502151"/>
            <a:ext cx="2121408" cy="338328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343A40"/>
                </a:solidFill>
                <a:latin typeface="Microsoft YaHei"/>
              </a:rPr>
              <a:t>证据回溯与有效性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592056" y="4069080"/>
            <a:ext cx="2258568" cy="384048"/>
          </a:xfrm>
          <a:prstGeom prst="roundRect">
            <a:avLst>
              <a:gd name="adj" fmla="val 12000"/>
            </a:avLst>
          </a:prstGeom>
          <a:solidFill>
            <a:srgbClr val="EAF4ED"/>
          </a:solidFill>
          <a:ln w="12700">
            <a:solidFill>
              <a:srgbClr val="BFD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637776" y="4096512"/>
            <a:ext cx="2167128" cy="329184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427454"/>
                </a:solidFill>
                <a:latin typeface="Microsoft YaHei"/>
              </a:rPr>
              <a:t>文本证据：可回溯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9592056" y="4562856"/>
            <a:ext cx="2258568" cy="3840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4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637776" y="4590288"/>
            <a:ext cx="2167128" cy="329184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5717B"/>
                </a:solidFill>
                <a:latin typeface="Microsoft YaHei"/>
              </a:rPr>
              <a:t>音 / 视：仅特征槽位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582912" y="4946904"/>
            <a:ext cx="2267712" cy="22860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7B"/>
                </a:solidFill>
                <a:latin typeface="Microsoft YaHei"/>
              </a:rPr>
              <a:t>原始秒数与帧号未验证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9592056" y="5321808"/>
            <a:ext cx="2258568" cy="402336"/>
          </a:xfrm>
          <a:prstGeom prst="roundRect">
            <a:avLst>
              <a:gd name="adj" fmla="val 12000"/>
            </a:avLst>
          </a:prstGeom>
          <a:solidFill>
            <a:srgbClr val="EFF7FB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637776" y="5349240"/>
            <a:ext cx="2167128" cy="347472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343A40"/>
                </a:solidFill>
                <a:latin typeface="Microsoft YaHei"/>
              </a:rPr>
              <a:t>关键区间删除  ↔  随机删除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02920" y="6181344"/>
            <a:ext cx="11164824" cy="228600"/>
          </a:xfrm>
          <a:prstGeom prst="rect">
            <a:avLst/>
          </a:prstGeom>
          <a:noFill/>
        </p:spPr>
        <p:txBody>
          <a:bodyPr wrap="square" lIns="18288" rIns="18288" tIns="4572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17B"/>
                </a:solidFill>
                <a:latin typeface="Microsoft YaHei"/>
              </a:rPr>
              <a:t>原视频画面与音频波形仅作输入示例，不表示解释模型定位的关键时间或帧。</a:t>
            </a:r>
          </a:p>
        </p:txBody>
      </p:sp>
    </p:spTree>
    <p:extLst>
      <p:ext uri="{BB962C8B-B14F-4D97-AF65-F5344CB8AC3E}">
        <p14:creationId xmlns:p14="http://schemas.microsoft.com/office/powerpoint/2010/main" val="246736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133</Words>
  <Application>Microsoft Office PowerPoint</Application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路</dc:creator>
  <cp:lastModifiedBy>晨 路</cp:lastModifiedBy>
  <cp:revision>3</cp:revision>
  <dcterms:created xsi:type="dcterms:W3CDTF">2026-09-24T14:49:49Z</dcterms:created>
  <dcterms:modified xsi:type="dcterms:W3CDTF">2026-09-25T00:11:22Z</dcterms:modified>
</cp:coreProperties>
</file>