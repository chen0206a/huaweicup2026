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C94C"/>
    <a:srgbClr val="F08FA3"/>
    <a:srgbClr val="4F9FD8"/>
    <a:srgbClr val="FBE1E6"/>
    <a:srgbClr val="E2F3EC"/>
    <a:srgbClr val="FFF1B8"/>
    <a:srgbClr val="DCEEF9"/>
    <a:srgbClr val="AEB8C2"/>
    <a:srgbClr val="8B5AA6"/>
    <a:srgbClr val="F3F5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102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0B2F6E-C13C-405E-9244-31E14638FD10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8450CE-6051-4DA8-9C66-AE49E069AC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41194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8450CE-6051-4DA8-9C66-AE49E069ACE4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233888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233268-EBB1-0987-04F9-0629C3BB9B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4F2EBB7-AB52-E64B-1463-DF50AE2FB2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43FED9-18E8-6844-2D55-5B0BDF944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EEE03-A3DB-4490-BAF0-994C85018154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B238B9-1BCF-412E-07B9-4FF1A2BAF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243551-8E33-6AEE-3FD8-015E07F29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1B4DF-2DFC-4982-B3A4-8ABB3CDED7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2687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A523EA-A024-D359-A75D-E0160519F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DA204D-452F-572D-A1E7-EF1DFE2D6E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5C10999-EFC6-A82F-983B-B8D907AC5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EEE03-A3DB-4490-BAF0-994C85018154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89B806-EFB7-CAA6-E7ED-ECC64EA99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E3E86B-9BB6-08C7-6298-2A16AD867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1B4DF-2DFC-4982-B3A4-8ABB3CDED7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840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7601B5-C8FC-380A-9A81-9AE617633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33A2378-ECAE-66DC-8509-C95B8B135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6CED9A-4004-401A-4059-BF0242300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EEE03-A3DB-4490-BAF0-994C85018154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499C2D-5A12-2935-C4D2-37917A4B0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3D9F3B-51EB-6C93-47A2-B42C6353A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1B4DF-2DFC-4982-B3A4-8ABB3CDED7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8289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71A5C0-9CC0-A1A0-086F-5A6ECDC31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F762C2-3101-BB9E-3A6D-018B7D8B64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FDED201-0BD2-3D9E-236C-F097E459D5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8A5D645-B7E0-CE0D-49A0-BDD9BBA3F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EEE03-A3DB-4490-BAF0-994C85018154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9C5762B-184D-5D8D-2381-6EB0999CF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FD48ECC-103B-8C37-3EBE-377F9B833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1B4DF-2DFC-4982-B3A4-8ABB3CDED7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2032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AF3C9A-396A-359A-44BE-5C92198DB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C58773D-E00F-456A-A9BD-761EC8CC28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AA69A68-8944-4DB0-0CDD-0CD1C48B66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3D7DC4A-427E-8673-B88B-94A87F2C99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29358AD-4517-5533-E6CC-D0BB74DAEF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D138579-84BE-E4D2-EA98-26EACB08E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EEE03-A3DB-4490-BAF0-994C85018154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B3D00C3-4137-AC6C-61E7-3009709D5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1B515B0-6B90-AE67-AB70-E0267DB1E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1B4DF-2DFC-4982-B3A4-8ABB3CDED7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84366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62F4DC-3E38-A6C9-D3A4-599907EA6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7A5FE29-7F9A-FA15-CB9D-D98C63E2E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EEE03-A3DB-4490-BAF0-994C85018154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F530954-265C-F302-9C35-A0D9C320A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AC10F4A-1BEE-7C1B-0EB7-26138F0F4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1B4DF-2DFC-4982-B3A4-8ABB3CDED7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6903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9B6DF67-6CBA-02DC-8FF6-455B0E3BD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EEE03-A3DB-4490-BAF0-994C85018154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833A9FF-8650-004F-E9F6-D025DC2E0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51DDD16-5C97-EE96-7587-5B286E1E0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1B4DF-2DFC-4982-B3A4-8ABB3CDED7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8539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2266FD-6153-059A-79DB-B85FBF854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1AF3C83-305A-C9AF-C940-508C4716E3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8A13E9-6E6F-8E90-7D45-D3EB5C76A3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0A4895F-9AC2-EC43-8606-36EDFAE27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EEE03-A3DB-4490-BAF0-994C85018154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A16DFD8-72B1-5B41-1BE7-0A811C407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B483C9E-F967-5B78-720D-28B1F9E13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1B4DF-2DFC-4982-B3A4-8ABB3CDED7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124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2D65C4-65CE-F8FA-DE0F-283DF3D58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170816B-B55A-7782-2BC6-4B68FD1485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8301984-0FDF-F477-39CC-A1C7C7B582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9C5A408-3542-0EBC-FC30-1C8AC68E1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EEE03-A3DB-4490-BAF0-994C85018154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31D2916-4AB1-0CCC-2799-DBA987DBE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F2314BA-058B-1E8D-959E-36F647400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1B4DF-2DFC-4982-B3A4-8ABB3CDED7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260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15B687-1133-BF5C-574B-4876B5DE0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5AD0CCF-BD47-2D2B-607A-0E8C55A759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E151DD-AD1F-4A14-1AF9-E97E7E99A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EEE03-A3DB-4490-BAF0-994C85018154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6A16EA-2EA3-7383-EA2C-2CE2108AD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E23F547-1168-CF92-CA1B-18DF013F0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1B4DF-2DFC-4982-B3A4-8ABB3CDED7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1205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5068765-5485-4602-D0DD-DA643B2AC1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597B1AD-11C8-B14D-F445-626225AAC7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CC14AE-5313-A20E-B942-F44DC09F4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EEE03-A3DB-4490-BAF0-994C85018154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E1F598-B4B1-3B1E-7D11-3B49114E9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290314-E416-38F8-A4BB-939AC8AD8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1B4DF-2DFC-4982-B3A4-8ABB3CDED7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706126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8C359F0-6C00-F18B-B47B-CE1622D36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3928C29-A14D-658D-521B-8E5932B4C0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7D6ABB-D385-B1BC-3BCA-01672EBAD5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CEEE03-A3DB-4490-BAF0-994C85018154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A31AA5D-31D7-1B58-C809-B5CDF2AF4E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0F1262-617C-9C24-AE20-9D84F6721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71B4DF-2DFC-4982-B3A4-8ABB3CDED7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4047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image" Target="../media/image10.png"/><Relationship Id="rId13" Type="http://schemas.openxmlformats.org/officeDocument/2006/relationships/image" Target="../media/image11.png"/><Relationship Id="rId14" Type="http://schemas.openxmlformats.org/officeDocument/2006/relationships/image" Target="../media/image12.png"/><Relationship Id="rId15" Type="http://schemas.openxmlformats.org/officeDocument/2006/relationships/image" Target="../media/image13.png"/><Relationship Id="rId16" Type="http://schemas.openxmlformats.org/officeDocument/2006/relationships/image" Target="../media/image14.png"/><Relationship Id="rId17" Type="http://schemas.openxmlformats.org/officeDocument/2006/relationships/image" Target="../media/image15.jpeg"/><Relationship Id="rId18" Type="http://schemas.openxmlformats.org/officeDocument/2006/relationships/image" Target="../media/image16.jpeg"/><Relationship Id="rId19" Type="http://schemas.openxmlformats.org/officeDocument/2006/relationships/image" Target="../media/image17.jpeg"/><Relationship Id="rId20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46304" y="685800"/>
            <a:ext cx="3419856" cy="5193792"/>
          </a:xfrm>
          <a:prstGeom prst="roundRect">
            <a:avLst>
              <a:gd name="adj" fmla="val 9000"/>
            </a:avLst>
          </a:prstGeom>
          <a:noFill/>
          <a:ln w="16510">
            <a:solidFill>
              <a:srgbClr val="A9D3E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39312" y="621792"/>
            <a:ext cx="5422392" cy="5193792"/>
          </a:xfrm>
          <a:prstGeom prst="roundRect">
            <a:avLst>
              <a:gd name="adj" fmla="val 9000"/>
            </a:avLst>
          </a:prstGeom>
          <a:noFill/>
          <a:ln w="16510">
            <a:solidFill>
              <a:srgbClr val="D9C8E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253728" y="722376"/>
            <a:ext cx="2551176" cy="2295144"/>
          </a:xfrm>
          <a:prstGeom prst="roundRect">
            <a:avLst>
              <a:gd name="adj" fmla="val 9000"/>
            </a:avLst>
          </a:prstGeom>
          <a:noFill/>
          <a:ln w="16510">
            <a:solidFill>
              <a:srgbClr val="EFD98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354312" y="3136392"/>
            <a:ext cx="2523744" cy="2651760"/>
          </a:xfrm>
          <a:prstGeom prst="roundRect">
            <a:avLst>
              <a:gd name="adj" fmla="val 9000"/>
            </a:avLst>
          </a:prstGeom>
          <a:noFill/>
          <a:ln w="16510">
            <a:solidFill>
              <a:srgbClr val="BBDDD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14984" y="475488"/>
            <a:ext cx="1591056" cy="35661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A9D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" y="502920"/>
            <a:ext cx="1536192" cy="30175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03942"/>
                </a:solidFill>
                <a:latin typeface="Microsoft YaHei"/>
              </a:rPr>
              <a:t>① 多模态输入特征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" y="1078992"/>
            <a:ext cx="91440" cy="219456"/>
          </a:xfrm>
          <a:prstGeom prst="rect">
            <a:avLst/>
          </a:prstGeom>
          <a:solidFill>
            <a:srgbClr val="A9D3E9"/>
          </a:solidFill>
          <a:ln w="12700">
            <a:solidFill>
              <a:srgbClr val="A9D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051560"/>
            <a:ext cx="630936" cy="28346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03942"/>
                </a:solidFill>
                <a:latin typeface="Microsoft YaHei"/>
              </a:rPr>
              <a:t>文本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" y="2688336"/>
            <a:ext cx="91440" cy="219456"/>
          </a:xfrm>
          <a:prstGeom prst="rect">
            <a:avLst/>
          </a:prstGeom>
          <a:solidFill>
            <a:srgbClr val="EFD98B"/>
          </a:solidFill>
          <a:ln w="12700">
            <a:solidFill>
              <a:srgbClr val="EFD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660904"/>
            <a:ext cx="630936" cy="28346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03942"/>
                </a:solidFill>
                <a:latin typeface="Microsoft YaHei"/>
              </a:rPr>
              <a:t>音频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" y="4215384"/>
            <a:ext cx="91440" cy="219456"/>
          </a:xfrm>
          <a:prstGeom prst="rect">
            <a:avLst/>
          </a:prstGeom>
          <a:solidFill>
            <a:srgbClr val="EFB7B2"/>
          </a:solidFill>
          <a:ln w="12700">
            <a:solidFill>
              <a:srgbClr val="EFB7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187952"/>
            <a:ext cx="630936" cy="28346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03942"/>
                </a:solidFill>
                <a:latin typeface="Microsoft YaHei"/>
              </a:rPr>
              <a:t>视觉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032" y="1389888"/>
            <a:ext cx="1344168" cy="640080"/>
          </a:xfrm>
          <a:prstGeom prst="roundRect">
            <a:avLst>
              <a:gd name="adj" fmla="val 9000"/>
            </a:avLst>
          </a:prstGeom>
          <a:solidFill>
            <a:srgbClr val="EDF7FB"/>
          </a:solidFill>
          <a:ln w="12700">
            <a:solidFill>
              <a:srgbClr val="A9D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3464" y="1417320"/>
            <a:ext cx="1289304" cy="585215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03942"/>
                </a:solidFill>
                <a:latin typeface="Microsoft YaHei"/>
              </a:rPr>
              <a:t>“I did not like this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03942"/>
                </a:solidFill>
                <a:latin typeface="Microsoft YaHei"/>
              </a:rPr>
              <a:t>movie at all”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" y="2057400"/>
            <a:ext cx="1188720" cy="1920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8737D"/>
                </a:solidFill>
                <a:latin typeface="Microsoft YaHei"/>
              </a:rPr>
              <a:t>原文片段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29184" y="3337560"/>
            <a:ext cx="1179576" cy="0"/>
          </a:xfrm>
          <a:prstGeom prst="line">
            <a:avLst/>
          </a:prstGeom>
          <a:ln w="5080">
            <a:solidFill>
              <a:srgbClr val="C9B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29184" y="3307979"/>
            <a:ext cx="0" cy="59161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49176" y="3304448"/>
            <a:ext cx="0" cy="66223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69169" y="3304209"/>
            <a:ext cx="0" cy="66701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89162" y="3305093"/>
            <a:ext cx="0" cy="64933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09155" y="3308587"/>
            <a:ext cx="0" cy="57945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29148" y="3280734"/>
            <a:ext cx="0" cy="113651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49140" y="3235683"/>
            <a:ext cx="0" cy="203753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69133" y="3247893"/>
            <a:ext cx="0" cy="179333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89126" y="3242338"/>
            <a:ext cx="0" cy="190443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09119" y="3235043"/>
            <a:ext cx="0" cy="205033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29112" y="3251599"/>
            <a:ext cx="0" cy="171921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49104" y="3302117"/>
            <a:ext cx="0" cy="70885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69097" y="3252715"/>
            <a:ext cx="0" cy="169689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89090" y="3084507"/>
            <a:ext cx="0" cy="506105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09083" y="3054096"/>
            <a:ext cx="0" cy="566928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29076" y="3195705"/>
            <a:ext cx="0" cy="283709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49069" y="3166562"/>
            <a:ext cx="0" cy="341995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69061" y="3189965"/>
            <a:ext cx="0" cy="295189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89054" y="3175480"/>
            <a:ext cx="0" cy="324159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09047" y="3271420"/>
            <a:ext cx="0" cy="132279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29040" y="3269665"/>
            <a:ext cx="0" cy="135789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49033" y="3300269"/>
            <a:ext cx="0" cy="74581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769025" y="3256388"/>
            <a:ext cx="0" cy="162343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89018" y="3267562"/>
            <a:ext cx="0" cy="139995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09011" y="3288039"/>
            <a:ext cx="0" cy="99041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29004" y="3272879"/>
            <a:ext cx="0" cy="129361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48997" y="3263679"/>
            <a:ext cx="0" cy="147761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868989" y="3274019"/>
            <a:ext cx="0" cy="127081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88982" y="3276563"/>
            <a:ext cx="0" cy="121993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08975" y="3267490"/>
            <a:ext cx="0" cy="140139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8968" y="3273477"/>
            <a:ext cx="0" cy="128165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948961" y="3265576"/>
            <a:ext cx="0" cy="143967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968954" y="3282036"/>
            <a:ext cx="0" cy="111047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88946" y="3291821"/>
            <a:ext cx="0" cy="91477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08939" y="3286168"/>
            <a:ext cx="0" cy="102783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028932" y="3285860"/>
            <a:ext cx="0" cy="103399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048925" y="3287831"/>
            <a:ext cx="0" cy="99457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068918" y="3259753"/>
            <a:ext cx="0" cy="155613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088910" y="3276740"/>
            <a:ext cx="0" cy="121639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108903" y="3288819"/>
            <a:ext cx="0" cy="97481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128896" y="3294145"/>
            <a:ext cx="0" cy="86829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148889" y="3286194"/>
            <a:ext cx="0" cy="102731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168882" y="3290904"/>
            <a:ext cx="0" cy="93311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188874" y="3293565"/>
            <a:ext cx="0" cy="87989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208867" y="3238401"/>
            <a:ext cx="0" cy="198317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228860" y="3269062"/>
            <a:ext cx="0" cy="136995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248853" y="3303533"/>
            <a:ext cx="0" cy="68053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1268846" y="3301646"/>
            <a:ext cx="0" cy="71827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288839" y="3279103"/>
            <a:ext cx="0" cy="116913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1308831" y="3282069"/>
            <a:ext cx="0" cy="110981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1328824" y="3277450"/>
            <a:ext cx="0" cy="120219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1348817" y="3271897"/>
            <a:ext cx="0" cy="131325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1368810" y="3281888"/>
            <a:ext cx="0" cy="111343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1388803" y="3276907"/>
            <a:ext cx="0" cy="121305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1408795" y="3215464"/>
            <a:ext cx="0" cy="244191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1428788" y="3168999"/>
            <a:ext cx="0" cy="337121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1448781" y="3250774"/>
            <a:ext cx="0" cy="173571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1468774" y="3177959"/>
            <a:ext cx="0" cy="319201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1488767" y="3240532"/>
            <a:ext cx="0" cy="194055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1508760" y="3249701"/>
            <a:ext cx="0" cy="175717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292608" y="3685032"/>
            <a:ext cx="1280160" cy="1920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10" b="0">
                <a:solidFill>
                  <a:srgbClr val="68737D"/>
                </a:solidFill>
                <a:latin typeface="Microsoft YaHei"/>
              </a:rPr>
              <a:t>原视频音轨波形</a:t>
            </a:r>
          </a:p>
        </p:txBody>
      </p:sp>
      <p:pic>
        <p:nvPicPr>
          <p:cNvPr id="79" name="Picture 78" descr="figure7_sample09_context_fram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10896" y="4572000"/>
            <a:ext cx="1280160" cy="960120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237744" y="5596128"/>
            <a:ext cx="1463040" cy="1828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68737D"/>
                </a:solidFill>
                <a:latin typeface="Microsoft YaHei"/>
              </a:rPr>
              <a:t>原视频场景（非定位帧）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1627632" y="1828800"/>
            <a:ext cx="228599" cy="0"/>
          </a:xfrm>
          <a:prstGeom prst="line">
            <a:avLst/>
          </a:prstGeom>
          <a:ln w="15240">
            <a:solidFill>
              <a:srgbClr val="2F6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Isosceles Triangle 81"/>
          <p:cNvSpPr/>
          <p:nvPr/>
        </p:nvSpPr>
        <p:spPr>
          <a:xfrm rot="5400000">
            <a:off x="1795881" y="1768449"/>
            <a:ext cx="120700" cy="120700"/>
          </a:xfrm>
          <a:prstGeom prst="triangle">
            <a:avLst/>
          </a:prstGeom>
          <a:solidFill>
            <a:srgbClr val="2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Cloud 82"/>
          <p:cNvSpPr/>
          <p:nvPr/>
        </p:nvSpPr>
        <p:spPr>
          <a:xfrm>
            <a:off x="1892807" y="1399032"/>
            <a:ext cx="1408176" cy="850392"/>
          </a:xfrm>
          <a:prstGeom prst="cloud">
            <a:avLst/>
          </a:prstGeom>
          <a:solidFill>
            <a:srgbClr val="EDF7FB"/>
          </a:solidFill>
          <a:ln w="12700">
            <a:solidFill>
              <a:srgbClr val="A9D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048255" y="1572768"/>
            <a:ext cx="1097280" cy="4846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303942"/>
                </a:solidFill>
                <a:latin typeface="Microsoft YaHei"/>
              </a:rPr>
              <a:t>文本特征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303942"/>
                </a:solidFill>
                <a:latin typeface="Microsoft YaHei"/>
              </a:rPr>
              <a:t>50×768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1627632" y="3447287"/>
            <a:ext cx="228599" cy="0"/>
          </a:xfrm>
          <a:prstGeom prst="line">
            <a:avLst/>
          </a:prstGeom>
          <a:ln w="15240">
            <a:solidFill>
              <a:srgbClr val="2F6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Isosceles Triangle 85"/>
          <p:cNvSpPr/>
          <p:nvPr/>
        </p:nvSpPr>
        <p:spPr>
          <a:xfrm rot="5400000">
            <a:off x="1795881" y="3386937"/>
            <a:ext cx="120700" cy="120700"/>
          </a:xfrm>
          <a:prstGeom prst="triangle">
            <a:avLst/>
          </a:prstGeom>
          <a:solidFill>
            <a:srgbClr val="2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Cloud 86"/>
          <p:cNvSpPr/>
          <p:nvPr/>
        </p:nvSpPr>
        <p:spPr>
          <a:xfrm>
            <a:off x="1892807" y="3017520"/>
            <a:ext cx="1408176" cy="850392"/>
          </a:xfrm>
          <a:prstGeom prst="cloud">
            <a:avLst/>
          </a:prstGeom>
          <a:solidFill>
            <a:srgbClr val="FFF9E9"/>
          </a:solidFill>
          <a:ln w="12700">
            <a:solidFill>
              <a:srgbClr val="EFD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048255" y="3191256"/>
            <a:ext cx="1097280" cy="4846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303942"/>
                </a:solidFill>
                <a:latin typeface="Microsoft YaHei"/>
              </a:rPr>
              <a:t>音频特征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303942"/>
                </a:solidFill>
                <a:latin typeface="Microsoft YaHei"/>
              </a:rPr>
              <a:t>50×74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1627632" y="5001768"/>
            <a:ext cx="228599" cy="0"/>
          </a:xfrm>
          <a:prstGeom prst="line">
            <a:avLst/>
          </a:prstGeom>
          <a:ln w="15240">
            <a:solidFill>
              <a:srgbClr val="2F6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Isosceles Triangle 89"/>
          <p:cNvSpPr/>
          <p:nvPr/>
        </p:nvSpPr>
        <p:spPr>
          <a:xfrm rot="5400000">
            <a:off x="1795881" y="4941417"/>
            <a:ext cx="120700" cy="120700"/>
          </a:xfrm>
          <a:prstGeom prst="triangle">
            <a:avLst/>
          </a:prstGeom>
          <a:solidFill>
            <a:srgbClr val="2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Cloud 90"/>
          <p:cNvSpPr/>
          <p:nvPr/>
        </p:nvSpPr>
        <p:spPr>
          <a:xfrm>
            <a:off x="1892807" y="4572000"/>
            <a:ext cx="1408176" cy="850392"/>
          </a:xfrm>
          <a:prstGeom prst="cloud">
            <a:avLst/>
          </a:prstGeom>
          <a:solidFill>
            <a:srgbClr val="FDF0EF"/>
          </a:solidFill>
          <a:ln w="12700">
            <a:solidFill>
              <a:srgbClr val="EFB7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048255" y="4745736"/>
            <a:ext cx="1097280" cy="4846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303942"/>
                </a:solidFill>
                <a:latin typeface="Microsoft YaHei"/>
              </a:rPr>
              <a:t>视觉特征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303942"/>
                </a:solidFill>
                <a:latin typeface="Microsoft YaHei"/>
              </a:rPr>
              <a:t>50×35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301752" y="2496312"/>
            <a:ext cx="3081528" cy="0"/>
          </a:xfrm>
          <a:prstGeom prst="line">
            <a:avLst/>
          </a:prstGeom>
          <a:ln w="8890">
            <a:solidFill>
              <a:srgbClr val="E3E9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301752" y="4087368"/>
            <a:ext cx="3081528" cy="0"/>
          </a:xfrm>
          <a:prstGeom prst="line">
            <a:avLst/>
          </a:prstGeom>
          <a:ln w="8890">
            <a:solidFill>
              <a:srgbClr val="E3E9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3474720" y="1819656"/>
            <a:ext cx="301752" cy="0"/>
          </a:xfrm>
          <a:prstGeom prst="line">
            <a:avLst/>
          </a:prstGeom>
          <a:ln w="22860">
            <a:solidFill>
              <a:srgbClr val="E6A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Isosceles Triangle 95"/>
          <p:cNvSpPr/>
          <p:nvPr/>
        </p:nvSpPr>
        <p:spPr>
          <a:xfrm rot="5400000">
            <a:off x="3716121" y="1759305"/>
            <a:ext cx="120700" cy="120700"/>
          </a:xfrm>
          <a:prstGeom prst="triangle">
            <a:avLst/>
          </a:prstGeom>
          <a:solidFill>
            <a:srgbClr val="E6A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7" name="Connector 96"/>
          <p:cNvCxnSpPr/>
          <p:nvPr/>
        </p:nvCxnSpPr>
        <p:spPr>
          <a:xfrm>
            <a:off x="3474720" y="3438144"/>
            <a:ext cx="301752" cy="0"/>
          </a:xfrm>
          <a:prstGeom prst="line">
            <a:avLst/>
          </a:prstGeom>
          <a:ln w="22860">
            <a:solidFill>
              <a:srgbClr val="E6A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Isosceles Triangle 97"/>
          <p:cNvSpPr/>
          <p:nvPr/>
        </p:nvSpPr>
        <p:spPr>
          <a:xfrm rot="5400000">
            <a:off x="3716121" y="3377793"/>
            <a:ext cx="120700" cy="120700"/>
          </a:xfrm>
          <a:prstGeom prst="triangle">
            <a:avLst/>
          </a:prstGeom>
          <a:solidFill>
            <a:srgbClr val="E6A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9" name="Connector 98"/>
          <p:cNvCxnSpPr/>
          <p:nvPr/>
        </p:nvCxnSpPr>
        <p:spPr>
          <a:xfrm>
            <a:off x="3474720" y="5001768"/>
            <a:ext cx="301752" cy="0"/>
          </a:xfrm>
          <a:prstGeom prst="line">
            <a:avLst/>
          </a:prstGeom>
          <a:ln w="22860">
            <a:solidFill>
              <a:srgbClr val="E6A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Isosceles Triangle 99"/>
          <p:cNvSpPr/>
          <p:nvPr/>
        </p:nvSpPr>
        <p:spPr>
          <a:xfrm rot="5400000">
            <a:off x="3716121" y="4941417"/>
            <a:ext cx="120700" cy="120700"/>
          </a:xfrm>
          <a:prstGeom prst="triangle">
            <a:avLst/>
          </a:prstGeom>
          <a:solidFill>
            <a:srgbClr val="E6A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4928616" y="475488"/>
            <a:ext cx="2377440" cy="35661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9C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4956048" y="502920"/>
            <a:ext cx="2322576" cy="30175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303942"/>
                </a:solidFill>
                <a:latin typeface="Microsoft YaHei"/>
              </a:rPr>
              <a:t>② 情感预测与 HEAF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867912" y="932688"/>
            <a:ext cx="2194560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2F6FAE"/>
                </a:solidFill>
                <a:latin typeface="Microsoft YaHei"/>
              </a:rPr>
              <a:t>双路池化预测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3895344" y="1408176"/>
            <a:ext cx="941832" cy="70408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4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3922776" y="1435608"/>
            <a:ext cx="886968" cy="6492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303942"/>
                </a:solidFill>
                <a:latin typeface="Microsoft YaHei"/>
              </a:rPr>
              <a:t>三模态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303942"/>
                </a:solidFill>
                <a:latin typeface="Microsoft YaHei"/>
              </a:rPr>
              <a:t>特征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5129784" y="1252728"/>
            <a:ext cx="1399032" cy="448056"/>
          </a:xfrm>
          <a:prstGeom prst="roundRect">
            <a:avLst>
              <a:gd name="adj" fmla="val 9000"/>
            </a:avLst>
          </a:prstGeom>
          <a:solidFill>
            <a:srgbClr val="EDF7FB"/>
          </a:solidFill>
          <a:ln w="12700">
            <a:solidFill>
              <a:srgbClr val="A9D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5157216" y="1280160"/>
            <a:ext cx="1344168" cy="39319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30" b="1">
                <a:solidFill>
                  <a:srgbClr val="303942"/>
                </a:solidFill>
                <a:latin typeface="Microsoft YaHei"/>
              </a:rPr>
              <a:t>掩码均值池化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5129784" y="1856231"/>
            <a:ext cx="1399032" cy="448056"/>
          </a:xfrm>
          <a:prstGeom prst="roundRect">
            <a:avLst>
              <a:gd name="adj" fmla="val 9000"/>
            </a:avLst>
          </a:prstGeom>
          <a:solidFill>
            <a:srgbClr val="F8F4FA"/>
          </a:solidFill>
          <a:ln w="12700">
            <a:solidFill>
              <a:srgbClr val="D9C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5157216" y="1883663"/>
            <a:ext cx="1344168" cy="39319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60" b="1">
                <a:solidFill>
                  <a:srgbClr val="303942"/>
                </a:solidFill>
                <a:latin typeface="Microsoft YaHei"/>
              </a:rPr>
              <a:t>注意力残差池化</a:t>
            </a:r>
          </a:p>
        </p:txBody>
      </p:sp>
      <p:cxnSp>
        <p:nvCxnSpPr>
          <p:cNvPr id="110" name="Connector 109"/>
          <p:cNvCxnSpPr/>
          <p:nvPr/>
        </p:nvCxnSpPr>
        <p:spPr>
          <a:xfrm>
            <a:off x="4855464" y="1746504"/>
            <a:ext cx="155448" cy="0"/>
          </a:xfrm>
          <a:prstGeom prst="line">
            <a:avLst/>
          </a:prstGeom>
          <a:ln w="17780">
            <a:solidFill>
              <a:srgbClr val="2F6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5010912" y="1472184"/>
            <a:ext cx="0" cy="612647"/>
          </a:xfrm>
          <a:prstGeom prst="line">
            <a:avLst/>
          </a:prstGeom>
          <a:ln w="15240">
            <a:solidFill>
              <a:srgbClr val="2F6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5010912" y="1472184"/>
            <a:ext cx="91440" cy="0"/>
          </a:xfrm>
          <a:prstGeom prst="line">
            <a:avLst/>
          </a:prstGeom>
          <a:ln w="15240">
            <a:solidFill>
              <a:srgbClr val="2F6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Isosceles Triangle 112"/>
          <p:cNvSpPr/>
          <p:nvPr/>
        </p:nvSpPr>
        <p:spPr>
          <a:xfrm rot="5400000">
            <a:off x="5042001" y="1411833"/>
            <a:ext cx="120700" cy="120700"/>
          </a:xfrm>
          <a:prstGeom prst="triangle">
            <a:avLst/>
          </a:prstGeom>
          <a:solidFill>
            <a:srgbClr val="2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4" name="Connector 113"/>
          <p:cNvCxnSpPr/>
          <p:nvPr/>
        </p:nvCxnSpPr>
        <p:spPr>
          <a:xfrm>
            <a:off x="5010912" y="2084831"/>
            <a:ext cx="91440" cy="0"/>
          </a:xfrm>
          <a:prstGeom prst="line">
            <a:avLst/>
          </a:prstGeom>
          <a:ln w="15240">
            <a:solidFill>
              <a:srgbClr val="2F6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Isosceles Triangle 114"/>
          <p:cNvSpPr/>
          <p:nvPr/>
        </p:nvSpPr>
        <p:spPr>
          <a:xfrm rot="5400000">
            <a:off x="5042001" y="2024481"/>
            <a:ext cx="120700" cy="120700"/>
          </a:xfrm>
          <a:prstGeom prst="triangle">
            <a:avLst/>
          </a:prstGeom>
          <a:solidFill>
            <a:srgbClr val="2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6" name="Connector 115"/>
          <p:cNvCxnSpPr/>
          <p:nvPr/>
        </p:nvCxnSpPr>
        <p:spPr>
          <a:xfrm>
            <a:off x="6547104" y="1481328"/>
            <a:ext cx="301752" cy="0"/>
          </a:xfrm>
          <a:prstGeom prst="line">
            <a:avLst/>
          </a:prstGeom>
          <a:ln w="15240">
            <a:solidFill>
              <a:srgbClr val="2F6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6547104" y="2084831"/>
            <a:ext cx="301752" cy="0"/>
          </a:xfrm>
          <a:prstGeom prst="line">
            <a:avLst/>
          </a:prstGeom>
          <a:ln w="15240">
            <a:solidFill>
              <a:srgbClr val="2F6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6848856" y="1481328"/>
            <a:ext cx="0" cy="603503"/>
          </a:xfrm>
          <a:prstGeom prst="line">
            <a:avLst/>
          </a:prstGeom>
          <a:ln w="13970">
            <a:solidFill>
              <a:srgbClr val="2F6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Rounded Rectangle 118"/>
          <p:cNvSpPr/>
          <p:nvPr/>
        </p:nvSpPr>
        <p:spPr>
          <a:xfrm>
            <a:off x="6720840" y="1636776"/>
            <a:ext cx="256032" cy="256032"/>
          </a:xfrm>
          <a:prstGeom prst="roundRect">
            <a:avLst>
              <a:gd name="adj" fmla="val 9000"/>
            </a:avLst>
          </a:prstGeom>
          <a:solidFill>
            <a:srgbClr val="F8F4FA"/>
          </a:solidFill>
          <a:ln w="12700">
            <a:solidFill>
              <a:srgbClr val="BDA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729984" y="1627632"/>
            <a:ext cx="237744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303942"/>
                </a:solidFill>
                <a:latin typeface="Microsoft YaHei"/>
              </a:rPr>
              <a:t>＋</a:t>
            </a:r>
          </a:p>
        </p:txBody>
      </p:sp>
      <p:cxnSp>
        <p:nvCxnSpPr>
          <p:cNvPr id="121" name="Connector 120"/>
          <p:cNvCxnSpPr/>
          <p:nvPr/>
        </p:nvCxnSpPr>
        <p:spPr>
          <a:xfrm>
            <a:off x="6995160" y="1783080"/>
            <a:ext cx="219456" cy="0"/>
          </a:xfrm>
          <a:prstGeom prst="line">
            <a:avLst/>
          </a:prstGeom>
          <a:ln w="16510">
            <a:solidFill>
              <a:srgbClr val="2F6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Isosceles Triangle 121"/>
          <p:cNvSpPr/>
          <p:nvPr/>
        </p:nvSpPr>
        <p:spPr>
          <a:xfrm rot="5400000">
            <a:off x="7154265" y="1722729"/>
            <a:ext cx="120700" cy="120700"/>
          </a:xfrm>
          <a:prstGeom prst="triangle">
            <a:avLst/>
          </a:prstGeom>
          <a:solidFill>
            <a:srgbClr val="2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ounded Rectangle 122"/>
          <p:cNvSpPr/>
          <p:nvPr/>
        </p:nvSpPr>
        <p:spPr>
          <a:xfrm>
            <a:off x="7242048" y="1399032"/>
            <a:ext cx="1508760" cy="74980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4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7269480" y="1426464"/>
            <a:ext cx="1453895" cy="6949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70" b="1">
                <a:solidFill>
                  <a:srgbClr val="303942"/>
                </a:solidFill>
                <a:latin typeface="Microsoft YaHei"/>
              </a:rPr>
              <a:t>融合表示</a:t>
            </a:r>
          </a:p>
        </p:txBody>
      </p:sp>
      <p:cxnSp>
        <p:nvCxnSpPr>
          <p:cNvPr id="125" name="Connector 124"/>
          <p:cNvCxnSpPr/>
          <p:nvPr/>
        </p:nvCxnSpPr>
        <p:spPr>
          <a:xfrm>
            <a:off x="3867912" y="2542032"/>
            <a:ext cx="4992624" cy="0"/>
          </a:xfrm>
          <a:prstGeom prst="line">
            <a:avLst/>
          </a:prstGeom>
          <a:ln w="9525">
            <a:solidFill>
              <a:srgbClr val="D4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6336792" y="2322576"/>
            <a:ext cx="0" cy="448056"/>
          </a:xfrm>
          <a:prstGeom prst="line">
            <a:avLst/>
          </a:prstGeom>
          <a:ln w="12700">
            <a:solidFill>
              <a:srgbClr val="2F6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Isosceles Triangle 126"/>
          <p:cNvSpPr/>
          <p:nvPr/>
        </p:nvSpPr>
        <p:spPr>
          <a:xfrm rot="10800000">
            <a:off x="6276441" y="2710281"/>
            <a:ext cx="120700" cy="120700"/>
          </a:xfrm>
          <a:prstGeom prst="triangle">
            <a:avLst/>
          </a:prstGeom>
          <a:solidFill>
            <a:srgbClr val="2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3858768" y="2752344"/>
            <a:ext cx="237744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70" b="1">
                <a:solidFill>
                  <a:srgbClr val="2F6FAE"/>
                </a:solidFill>
                <a:latin typeface="Microsoft YaHei"/>
              </a:rPr>
              <a:t>HEAF 层级解释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3849624" y="3236976"/>
            <a:ext cx="1170432" cy="14904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4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3886200" y="4325112"/>
            <a:ext cx="1097280" cy="24688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0" b="1">
                <a:solidFill>
                  <a:srgbClr val="303942"/>
                </a:solidFill>
                <a:latin typeface="Microsoft YaHei"/>
              </a:rPr>
              <a:t>八种联盟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5120640" y="3236976"/>
            <a:ext cx="1170432" cy="14904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4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5157216" y="4325112"/>
            <a:ext cx="1097280" cy="24688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0" b="1">
                <a:solidFill>
                  <a:srgbClr val="303942"/>
                </a:solidFill>
                <a:latin typeface="Microsoft YaHei"/>
              </a:rPr>
              <a:t>Shapley贡献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6391656" y="3236976"/>
            <a:ext cx="1170432" cy="14904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4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6428232" y="4325112"/>
            <a:ext cx="1097280" cy="24688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0" b="1">
                <a:solidFill>
                  <a:srgbClr val="303942"/>
                </a:solidFill>
                <a:latin typeface="Microsoft YaHei"/>
              </a:rPr>
              <a:t>模态交互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7662672" y="3236976"/>
            <a:ext cx="1170432" cy="14904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4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7699248" y="4325112"/>
            <a:ext cx="1097280" cy="24688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0" b="1">
                <a:solidFill>
                  <a:srgbClr val="303942"/>
                </a:solidFill>
                <a:latin typeface="Microsoft YaHei"/>
              </a:rPr>
              <a:t>时间遮挡</a:t>
            </a:r>
          </a:p>
        </p:txBody>
      </p:sp>
      <p:cxnSp>
        <p:nvCxnSpPr>
          <p:cNvPr id="137" name="Connector 136"/>
          <p:cNvCxnSpPr/>
          <p:nvPr/>
        </p:nvCxnSpPr>
        <p:spPr>
          <a:xfrm>
            <a:off x="5038344" y="3922776"/>
            <a:ext cx="54863" cy="0"/>
          </a:xfrm>
          <a:prstGeom prst="line">
            <a:avLst/>
          </a:prstGeom>
          <a:ln w="13970">
            <a:solidFill>
              <a:srgbClr val="2F6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Isosceles Triangle 137"/>
          <p:cNvSpPr/>
          <p:nvPr/>
        </p:nvSpPr>
        <p:spPr>
          <a:xfrm rot="5400000">
            <a:off x="5032857" y="3862425"/>
            <a:ext cx="120700" cy="120700"/>
          </a:xfrm>
          <a:prstGeom prst="triangle">
            <a:avLst/>
          </a:prstGeom>
          <a:solidFill>
            <a:srgbClr val="2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9" name="Connector 138"/>
          <p:cNvCxnSpPr/>
          <p:nvPr/>
        </p:nvCxnSpPr>
        <p:spPr>
          <a:xfrm>
            <a:off x="6309359" y="3922776"/>
            <a:ext cx="54865" cy="0"/>
          </a:xfrm>
          <a:prstGeom prst="line">
            <a:avLst/>
          </a:prstGeom>
          <a:ln w="13970">
            <a:solidFill>
              <a:srgbClr val="2F6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Isosceles Triangle 139"/>
          <p:cNvSpPr/>
          <p:nvPr/>
        </p:nvSpPr>
        <p:spPr>
          <a:xfrm rot="5400000">
            <a:off x="6303873" y="3862425"/>
            <a:ext cx="120700" cy="120700"/>
          </a:xfrm>
          <a:prstGeom prst="triangle">
            <a:avLst/>
          </a:prstGeom>
          <a:solidFill>
            <a:srgbClr val="2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1" name="Connector 140"/>
          <p:cNvCxnSpPr/>
          <p:nvPr/>
        </p:nvCxnSpPr>
        <p:spPr>
          <a:xfrm>
            <a:off x="7580376" y="3922776"/>
            <a:ext cx="54864" cy="0"/>
          </a:xfrm>
          <a:prstGeom prst="line">
            <a:avLst/>
          </a:prstGeom>
          <a:ln w="13970">
            <a:solidFill>
              <a:srgbClr val="2F6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Isosceles Triangle 141"/>
          <p:cNvSpPr/>
          <p:nvPr/>
        </p:nvSpPr>
        <p:spPr>
          <a:xfrm rot="5400000">
            <a:off x="7574889" y="3862425"/>
            <a:ext cx="120700" cy="120700"/>
          </a:xfrm>
          <a:prstGeom prst="triangle">
            <a:avLst/>
          </a:prstGeom>
          <a:solidFill>
            <a:srgbClr val="2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3986784" y="3493008"/>
            <a:ext cx="182880" cy="164592"/>
          </a:xfrm>
          <a:prstGeom prst="rect">
            <a:avLst/>
          </a:prstGeom>
          <a:solidFill>
            <a:srgbClr val="EDF7FB"/>
          </a:solidFill>
          <a:ln w="8890">
            <a:solidFill>
              <a:srgbClr val="A9D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4233672" y="3493008"/>
            <a:ext cx="182880" cy="164592"/>
          </a:xfrm>
          <a:prstGeom prst="rect">
            <a:avLst/>
          </a:prstGeom>
          <a:solidFill>
            <a:srgbClr val="EDF7FB"/>
          </a:solidFill>
          <a:ln w="8890">
            <a:solidFill>
              <a:srgbClr val="A9D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4480560" y="3493008"/>
            <a:ext cx="182880" cy="164592"/>
          </a:xfrm>
          <a:prstGeom prst="rect">
            <a:avLst/>
          </a:prstGeom>
          <a:solidFill>
            <a:srgbClr val="EDF7FB"/>
          </a:solidFill>
          <a:ln w="8890">
            <a:solidFill>
              <a:srgbClr val="A9D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4727448" y="3493008"/>
            <a:ext cx="182880" cy="164592"/>
          </a:xfrm>
          <a:prstGeom prst="rect">
            <a:avLst/>
          </a:prstGeom>
          <a:solidFill>
            <a:srgbClr val="EDF7FB"/>
          </a:solidFill>
          <a:ln w="8890">
            <a:solidFill>
              <a:srgbClr val="A9D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3986784" y="3758183"/>
            <a:ext cx="182880" cy="164592"/>
          </a:xfrm>
          <a:prstGeom prst="rect">
            <a:avLst/>
          </a:prstGeom>
          <a:solidFill>
            <a:srgbClr val="EDF7FB"/>
          </a:solidFill>
          <a:ln w="8890">
            <a:solidFill>
              <a:srgbClr val="A9D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4233672" y="3758183"/>
            <a:ext cx="182880" cy="164592"/>
          </a:xfrm>
          <a:prstGeom prst="rect">
            <a:avLst/>
          </a:prstGeom>
          <a:solidFill>
            <a:srgbClr val="EDF7FB"/>
          </a:solidFill>
          <a:ln w="8890">
            <a:solidFill>
              <a:srgbClr val="A9D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4480560" y="3758183"/>
            <a:ext cx="182880" cy="164592"/>
          </a:xfrm>
          <a:prstGeom prst="rect">
            <a:avLst/>
          </a:prstGeom>
          <a:solidFill>
            <a:srgbClr val="EDF7FB"/>
          </a:solidFill>
          <a:ln w="8890">
            <a:solidFill>
              <a:srgbClr val="A9D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4727448" y="3758183"/>
            <a:ext cx="182880" cy="164592"/>
          </a:xfrm>
          <a:prstGeom prst="rect">
            <a:avLst/>
          </a:prstGeom>
          <a:solidFill>
            <a:srgbClr val="EDF7FB"/>
          </a:solidFill>
          <a:ln w="8890">
            <a:solidFill>
              <a:srgbClr val="A9D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303520" y="3511296"/>
            <a:ext cx="649224" cy="109728"/>
          </a:xfrm>
          <a:prstGeom prst="rect">
            <a:avLst/>
          </a:prstGeom>
          <a:solidFill>
            <a:srgbClr val="A9D3E9"/>
          </a:solidFill>
          <a:ln w="12700">
            <a:solidFill>
              <a:srgbClr val="A9D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303520" y="3758183"/>
            <a:ext cx="548640" cy="109728"/>
          </a:xfrm>
          <a:prstGeom prst="rect">
            <a:avLst/>
          </a:prstGeom>
          <a:solidFill>
            <a:srgbClr val="EFD98B"/>
          </a:solidFill>
          <a:ln w="12700">
            <a:solidFill>
              <a:srgbClr val="EFD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5303520" y="4005072"/>
            <a:ext cx="457200" cy="109728"/>
          </a:xfrm>
          <a:prstGeom prst="rect">
            <a:avLst/>
          </a:prstGeom>
          <a:solidFill>
            <a:srgbClr val="EFB7B2"/>
          </a:solidFill>
          <a:ln w="12700">
            <a:solidFill>
              <a:srgbClr val="EFB7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ounded Rectangle 153"/>
          <p:cNvSpPr/>
          <p:nvPr/>
        </p:nvSpPr>
        <p:spPr>
          <a:xfrm>
            <a:off x="6684264" y="3547872"/>
            <a:ext cx="118872" cy="118872"/>
          </a:xfrm>
          <a:prstGeom prst="roundRect">
            <a:avLst>
              <a:gd name="adj" fmla="val 9000"/>
            </a:avLst>
          </a:prstGeom>
          <a:solidFill>
            <a:srgbClr val="A9D3E9"/>
          </a:solidFill>
          <a:ln w="12700">
            <a:solidFill>
              <a:srgbClr val="A9D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ounded Rectangle 154"/>
          <p:cNvSpPr/>
          <p:nvPr/>
        </p:nvSpPr>
        <p:spPr>
          <a:xfrm>
            <a:off x="7068312" y="3547872"/>
            <a:ext cx="118872" cy="118872"/>
          </a:xfrm>
          <a:prstGeom prst="roundRect">
            <a:avLst>
              <a:gd name="adj" fmla="val 9000"/>
            </a:avLst>
          </a:prstGeom>
          <a:solidFill>
            <a:srgbClr val="EFD98B"/>
          </a:solidFill>
          <a:ln w="12700">
            <a:solidFill>
              <a:srgbClr val="EFD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ounded Rectangle 155"/>
          <p:cNvSpPr/>
          <p:nvPr/>
        </p:nvSpPr>
        <p:spPr>
          <a:xfrm>
            <a:off x="6876288" y="3913632"/>
            <a:ext cx="118872" cy="118872"/>
          </a:xfrm>
          <a:prstGeom prst="roundRect">
            <a:avLst>
              <a:gd name="adj" fmla="val 9000"/>
            </a:avLst>
          </a:prstGeom>
          <a:solidFill>
            <a:srgbClr val="EFB7B2"/>
          </a:solidFill>
          <a:ln w="12700">
            <a:solidFill>
              <a:srgbClr val="EFB7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7" name="Connector 156"/>
          <p:cNvCxnSpPr/>
          <p:nvPr/>
        </p:nvCxnSpPr>
        <p:spPr>
          <a:xfrm>
            <a:off x="6739128" y="3611880"/>
            <a:ext cx="384048" cy="0"/>
          </a:xfrm>
          <a:prstGeom prst="line">
            <a:avLst/>
          </a:prstGeom>
          <a:ln w="11430">
            <a:solidFill>
              <a:srgbClr val="68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6757416" y="3657600"/>
            <a:ext cx="173736" cy="310896"/>
          </a:xfrm>
          <a:prstGeom prst="line">
            <a:avLst/>
          </a:prstGeom>
          <a:ln w="11430">
            <a:solidFill>
              <a:srgbClr val="68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H="1">
            <a:off x="6931152" y="3657600"/>
            <a:ext cx="192024" cy="310896"/>
          </a:xfrm>
          <a:prstGeom prst="line">
            <a:avLst/>
          </a:prstGeom>
          <a:ln w="11430">
            <a:solidFill>
              <a:srgbClr val="68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Rectangle 159"/>
          <p:cNvSpPr/>
          <p:nvPr/>
        </p:nvSpPr>
        <p:spPr>
          <a:xfrm>
            <a:off x="7744968" y="3685032"/>
            <a:ext cx="89611" cy="310896"/>
          </a:xfrm>
          <a:prstGeom prst="rect">
            <a:avLst/>
          </a:prstGeom>
          <a:solidFill>
            <a:srgbClr val="E6EEF2"/>
          </a:solidFill>
          <a:ln w="12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7844637" y="3685032"/>
            <a:ext cx="89611" cy="310896"/>
          </a:xfrm>
          <a:prstGeom prst="rect">
            <a:avLst/>
          </a:prstGeom>
          <a:solidFill>
            <a:srgbClr val="E6EEF2"/>
          </a:solidFill>
          <a:ln w="12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7944307" y="3685032"/>
            <a:ext cx="89611" cy="310896"/>
          </a:xfrm>
          <a:prstGeom prst="rect">
            <a:avLst/>
          </a:prstGeom>
          <a:solidFill>
            <a:srgbClr val="E6EEF2"/>
          </a:solidFill>
          <a:ln w="12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8043976" y="3685032"/>
            <a:ext cx="89611" cy="310896"/>
          </a:xfrm>
          <a:prstGeom prst="rect">
            <a:avLst/>
          </a:prstGeom>
          <a:solidFill>
            <a:srgbClr val="E6EEF2"/>
          </a:solidFill>
          <a:ln w="12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8143646" y="3685032"/>
            <a:ext cx="89611" cy="310896"/>
          </a:xfrm>
          <a:prstGeom prst="rect">
            <a:avLst/>
          </a:prstGeom>
          <a:solidFill>
            <a:srgbClr val="FBE7CB"/>
          </a:solidFill>
          <a:ln w="12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8243316" y="3685032"/>
            <a:ext cx="89611" cy="310896"/>
          </a:xfrm>
          <a:prstGeom prst="rect">
            <a:avLst/>
          </a:prstGeom>
          <a:solidFill>
            <a:srgbClr val="FBE7CB"/>
          </a:solidFill>
          <a:ln w="12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8342985" y="3685032"/>
            <a:ext cx="89611" cy="310896"/>
          </a:xfrm>
          <a:prstGeom prst="rect">
            <a:avLst/>
          </a:prstGeom>
          <a:solidFill>
            <a:srgbClr val="FBE7CB"/>
          </a:solidFill>
          <a:ln w="12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8442655" y="3685032"/>
            <a:ext cx="89611" cy="310896"/>
          </a:xfrm>
          <a:prstGeom prst="rect">
            <a:avLst/>
          </a:prstGeom>
          <a:solidFill>
            <a:srgbClr val="E6EEF2"/>
          </a:solidFill>
          <a:ln w="12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8542324" y="3685032"/>
            <a:ext cx="89611" cy="310896"/>
          </a:xfrm>
          <a:prstGeom prst="rect">
            <a:avLst/>
          </a:prstGeom>
          <a:solidFill>
            <a:srgbClr val="E6EEF2"/>
          </a:solidFill>
          <a:ln w="12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8641994" y="3685032"/>
            <a:ext cx="89611" cy="310896"/>
          </a:xfrm>
          <a:prstGeom prst="rect">
            <a:avLst/>
          </a:prstGeom>
          <a:solidFill>
            <a:srgbClr val="E6EEF2"/>
          </a:solidFill>
          <a:ln w="12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ounded Rectangle 169"/>
          <p:cNvSpPr/>
          <p:nvPr/>
        </p:nvSpPr>
        <p:spPr>
          <a:xfrm>
            <a:off x="4050791" y="4974336"/>
            <a:ext cx="4608576" cy="466344"/>
          </a:xfrm>
          <a:prstGeom prst="roundRect">
            <a:avLst>
              <a:gd name="adj" fmla="val 9000"/>
            </a:avLst>
          </a:prstGeom>
          <a:solidFill>
            <a:srgbClr val="F8F4FA"/>
          </a:solidFill>
          <a:ln w="12700">
            <a:solidFill>
              <a:srgbClr val="D9C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4078224" y="5001768"/>
            <a:ext cx="4553712" cy="4114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303942"/>
                </a:solidFill>
                <a:latin typeface="Microsoft YaHei"/>
              </a:rPr>
              <a:t>主导模态  ·  模态交互  ·  关键特征区间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4133087" y="5504688"/>
            <a:ext cx="4462272" cy="1828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68737D"/>
                </a:solidFill>
                <a:latin typeface="Microsoft YaHei"/>
              </a:rPr>
              <a:t>归因  →  局部遮挡  →  删除对照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9665208" y="539496"/>
            <a:ext cx="1819656" cy="3657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FD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9692640" y="566928"/>
            <a:ext cx="1764792" cy="31089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20" b="1">
                <a:solidFill>
                  <a:srgbClr val="303942"/>
                </a:solidFill>
                <a:latin typeface="Microsoft YaHei"/>
              </a:rPr>
              <a:t>③ 预测与解释卡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9482328" y="1115568"/>
            <a:ext cx="539496" cy="3840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4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9509759" y="1143000"/>
            <a:ext cx="484632" cy="3291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70" b="1">
                <a:solidFill>
                  <a:srgbClr val="303942"/>
                </a:solidFill>
                <a:latin typeface="Microsoft YaHei"/>
              </a:rPr>
              <a:t>预测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10113264" y="1115568"/>
            <a:ext cx="1453896" cy="3840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4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10140696" y="1143000"/>
            <a:ext cx="1399032" cy="3291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60" b="0">
                <a:solidFill>
                  <a:srgbClr val="303942"/>
                </a:solidFill>
                <a:latin typeface="Microsoft YaHei"/>
              </a:rPr>
              <a:t>类别 · 情感强度</a:t>
            </a:r>
          </a:p>
        </p:txBody>
      </p:sp>
      <p:sp>
        <p:nvSpPr>
          <p:cNvPr id="179" name="Rounded Rectangle 178"/>
          <p:cNvSpPr/>
          <p:nvPr/>
        </p:nvSpPr>
        <p:spPr>
          <a:xfrm>
            <a:off x="9482328" y="1682495"/>
            <a:ext cx="539496" cy="3840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4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9509759" y="1709928"/>
            <a:ext cx="484632" cy="3291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70" b="1">
                <a:solidFill>
                  <a:srgbClr val="303942"/>
                </a:solidFill>
                <a:latin typeface="Microsoft YaHei"/>
              </a:rPr>
              <a:t>模态</a:t>
            </a:r>
          </a:p>
        </p:txBody>
      </p:sp>
      <p:sp>
        <p:nvSpPr>
          <p:cNvPr id="181" name="Rounded Rectangle 180"/>
          <p:cNvSpPr/>
          <p:nvPr/>
        </p:nvSpPr>
        <p:spPr>
          <a:xfrm>
            <a:off x="10113264" y="1682495"/>
            <a:ext cx="1453896" cy="3840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4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10140696" y="1709928"/>
            <a:ext cx="1399032" cy="3291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60" b="0">
                <a:solidFill>
                  <a:srgbClr val="303942"/>
                </a:solidFill>
                <a:latin typeface="Microsoft YaHei"/>
              </a:rPr>
              <a:t>贡献 · 主导模态</a:t>
            </a:r>
          </a:p>
        </p:txBody>
      </p:sp>
      <p:sp>
        <p:nvSpPr>
          <p:cNvPr id="183" name="Rounded Rectangle 182"/>
          <p:cNvSpPr/>
          <p:nvPr/>
        </p:nvSpPr>
        <p:spPr>
          <a:xfrm>
            <a:off x="9482328" y="2249424"/>
            <a:ext cx="539496" cy="3840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4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9509759" y="2276856"/>
            <a:ext cx="484632" cy="3291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70" b="1">
                <a:solidFill>
                  <a:srgbClr val="303942"/>
                </a:solidFill>
                <a:latin typeface="Microsoft YaHei"/>
              </a:rPr>
              <a:t>局部</a:t>
            </a:r>
          </a:p>
        </p:txBody>
      </p:sp>
      <p:sp>
        <p:nvSpPr>
          <p:cNvPr id="185" name="Rounded Rectangle 184"/>
          <p:cNvSpPr/>
          <p:nvPr/>
        </p:nvSpPr>
        <p:spPr>
          <a:xfrm>
            <a:off x="10113264" y="2249424"/>
            <a:ext cx="1453896" cy="3840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4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10140696" y="2276856"/>
            <a:ext cx="1399032" cy="3291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60" b="0">
                <a:solidFill>
                  <a:srgbClr val="303942"/>
                </a:solidFill>
                <a:latin typeface="Microsoft YaHei"/>
              </a:rPr>
              <a:t>交互 · 特征区间</a:t>
            </a:r>
          </a:p>
        </p:txBody>
      </p:sp>
      <p:cxnSp>
        <p:nvCxnSpPr>
          <p:cNvPr id="187" name="Connector 186"/>
          <p:cNvCxnSpPr/>
          <p:nvPr/>
        </p:nvCxnSpPr>
        <p:spPr>
          <a:xfrm>
            <a:off x="8951976" y="1792224"/>
            <a:ext cx="384048" cy="0"/>
          </a:xfrm>
          <a:prstGeom prst="line">
            <a:avLst/>
          </a:prstGeom>
          <a:ln w="21590">
            <a:solidFill>
              <a:srgbClr val="2F6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8" name="Isosceles Triangle 187"/>
          <p:cNvSpPr/>
          <p:nvPr/>
        </p:nvSpPr>
        <p:spPr>
          <a:xfrm rot="5400000">
            <a:off x="9275673" y="1731873"/>
            <a:ext cx="120700" cy="120700"/>
          </a:xfrm>
          <a:prstGeom prst="triangle">
            <a:avLst/>
          </a:prstGeom>
          <a:solidFill>
            <a:srgbClr val="2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9" name="Connector 188"/>
          <p:cNvCxnSpPr/>
          <p:nvPr/>
        </p:nvCxnSpPr>
        <p:spPr>
          <a:xfrm>
            <a:off x="10588752" y="3044952"/>
            <a:ext cx="0" cy="155448"/>
          </a:xfrm>
          <a:prstGeom prst="line">
            <a:avLst/>
          </a:prstGeom>
          <a:ln w="16510">
            <a:solidFill>
              <a:srgbClr val="2F6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0" name="Isosceles Triangle 189"/>
          <p:cNvSpPr/>
          <p:nvPr/>
        </p:nvSpPr>
        <p:spPr>
          <a:xfrm rot="10800000">
            <a:off x="10528401" y="3140049"/>
            <a:ext cx="120700" cy="120700"/>
          </a:xfrm>
          <a:prstGeom prst="triangle">
            <a:avLst/>
          </a:prstGeom>
          <a:solidFill>
            <a:srgbClr val="2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ounded Rectangle 190"/>
          <p:cNvSpPr/>
          <p:nvPr/>
        </p:nvSpPr>
        <p:spPr>
          <a:xfrm>
            <a:off x="9454896" y="3090672"/>
            <a:ext cx="2322576" cy="37490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BB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9482328" y="3118103"/>
            <a:ext cx="2267712" cy="3200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303942"/>
                </a:solidFill>
                <a:latin typeface="Microsoft YaHei"/>
              </a:rPr>
              <a:t>④ 证据回溯与有效性</a:t>
            </a:r>
          </a:p>
        </p:txBody>
      </p:sp>
      <p:sp>
        <p:nvSpPr>
          <p:cNvPr id="193" name="Rounded Rectangle 192"/>
          <p:cNvSpPr/>
          <p:nvPr/>
        </p:nvSpPr>
        <p:spPr>
          <a:xfrm>
            <a:off x="9528048" y="3712463"/>
            <a:ext cx="2185416" cy="393192"/>
          </a:xfrm>
          <a:prstGeom prst="roundRect">
            <a:avLst>
              <a:gd name="adj" fmla="val 9000"/>
            </a:avLst>
          </a:prstGeom>
          <a:solidFill>
            <a:srgbClr val="EDF7EF"/>
          </a:solidFill>
          <a:ln w="12700">
            <a:solidFill>
              <a:srgbClr val="B8D7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9555480" y="3739896"/>
            <a:ext cx="2130552" cy="33832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46765A"/>
                </a:solidFill>
                <a:latin typeface="Microsoft YaHei"/>
              </a:rPr>
              <a:t>文本证据：原文可回溯</a:t>
            </a:r>
          </a:p>
        </p:txBody>
      </p:sp>
      <p:sp>
        <p:nvSpPr>
          <p:cNvPr id="195" name="Rounded Rectangle 194"/>
          <p:cNvSpPr/>
          <p:nvPr/>
        </p:nvSpPr>
        <p:spPr>
          <a:xfrm>
            <a:off x="9528048" y="4251960"/>
            <a:ext cx="2185416" cy="393192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 w="12700">
            <a:solidFill>
              <a:srgbClr val="D4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9555480" y="4279392"/>
            <a:ext cx="2130552" cy="33832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10" b="0">
                <a:solidFill>
                  <a:srgbClr val="68737D"/>
                </a:solidFill>
                <a:latin typeface="Microsoft YaHei"/>
              </a:rPr>
              <a:t>音 / 视：仅特征槽位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9528048" y="4672584"/>
            <a:ext cx="2185416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10" b="0">
                <a:solidFill>
                  <a:srgbClr val="68737D"/>
                </a:solidFill>
                <a:latin typeface="Microsoft YaHei"/>
              </a:rPr>
              <a:t>原始秒数与帧号未验证</a:t>
            </a:r>
          </a:p>
        </p:txBody>
      </p:sp>
      <p:sp>
        <p:nvSpPr>
          <p:cNvPr id="198" name="Rounded Rectangle 197"/>
          <p:cNvSpPr/>
          <p:nvPr/>
        </p:nvSpPr>
        <p:spPr>
          <a:xfrm>
            <a:off x="9528048" y="5065776"/>
            <a:ext cx="2185416" cy="429768"/>
          </a:xfrm>
          <a:prstGeom prst="roundRect">
            <a:avLst>
              <a:gd name="adj" fmla="val 9000"/>
            </a:avLst>
          </a:prstGeom>
          <a:solidFill>
            <a:srgbClr val="EDF7FB"/>
          </a:solidFill>
          <a:ln w="12700">
            <a:solidFill>
              <a:srgbClr val="A9D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9555480" y="5093208"/>
            <a:ext cx="2130552" cy="37490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303942"/>
                </a:solidFill>
                <a:latin typeface="Microsoft YaHei"/>
              </a:rPr>
              <a:t>关键删除  ↔  随机删除</a:t>
            </a:r>
          </a:p>
        </p:txBody>
      </p:sp>
      <p:cxnSp>
        <p:nvCxnSpPr>
          <p:cNvPr id="200" name="Connector 199"/>
          <p:cNvCxnSpPr/>
          <p:nvPr/>
        </p:nvCxnSpPr>
        <p:spPr>
          <a:xfrm>
            <a:off x="8961120" y="5239512"/>
            <a:ext cx="411480" cy="0"/>
          </a:xfrm>
          <a:prstGeom prst="line">
            <a:avLst/>
          </a:prstGeom>
          <a:ln w="20320">
            <a:solidFill>
              <a:srgbClr val="2F6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1" name="Isosceles Triangle 200"/>
          <p:cNvSpPr/>
          <p:nvPr/>
        </p:nvSpPr>
        <p:spPr>
          <a:xfrm rot="5400000">
            <a:off x="9312249" y="5179161"/>
            <a:ext cx="120700" cy="120700"/>
          </a:xfrm>
          <a:prstGeom prst="triangle">
            <a:avLst/>
          </a:prstGeom>
          <a:solidFill>
            <a:srgbClr val="2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457200" y="45720"/>
            <a:ext cx="11274552" cy="3291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60" b="1">
                <a:solidFill>
                  <a:srgbClr val="303942"/>
                </a:solidFill>
                <a:latin typeface="Microsoft YaHei"/>
              </a:rPr>
              <a:t>图7  情感预测与层级证据归因框架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585216" y="6227064"/>
            <a:ext cx="10972800" cy="20116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0" b="0">
                <a:solidFill>
                  <a:srgbClr val="68737D"/>
                </a:solidFill>
                <a:latin typeface="Microsoft YaHei"/>
              </a:rPr>
              <a:t>原视频画面和音频波形仅作输入示意，不表示关键时间或帧定位。</a:t>
            </a:r>
          </a:p>
        </p:txBody>
      </p:sp>
    </p:spTree>
    <p:extLst>
      <p:ext uri="{BB962C8B-B14F-4D97-AF65-F5344CB8AC3E}">
        <p14:creationId xmlns:p14="http://schemas.microsoft.com/office/powerpoint/2010/main" val="24673638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712</TotalTime>
  <Words>158</Words>
  <Application>Microsoft Office PowerPoint</Application>
  <PresentationFormat>宽屏</PresentationFormat>
  <Paragraphs>29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等线</vt:lpstr>
      <vt:lpstr>等线 Light</vt:lpstr>
      <vt:lpstr>宋体</vt:lpstr>
      <vt:lpstr>微软雅黑</vt:lpstr>
      <vt:lpstr>Arial</vt:lpstr>
      <vt:lpstr>Cambria Math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晨 路</dc:creator>
  <cp:lastModifiedBy>晨 路</cp:lastModifiedBy>
  <cp:revision>6</cp:revision>
  <dcterms:created xsi:type="dcterms:W3CDTF">2026-09-24T14:49:49Z</dcterms:created>
  <dcterms:modified xsi:type="dcterms:W3CDTF">2026-09-25T07:04:27Z</dcterms:modified>
</cp:coreProperties>
</file>