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B7280"/>
    <a:srgbClr val="6B6285"/>
    <a:srgbClr val="E9E2F3"/>
    <a:srgbClr val="286044"/>
    <a:srgbClr val="79A86B"/>
    <a:srgbClr val="DCEED8"/>
    <a:srgbClr val="6C9FC5"/>
    <a:srgbClr val="DCEEF9"/>
    <a:srgbClr val="FFF1B8"/>
    <a:srgbClr val="D85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6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0B2F6E-C13C-405E-9244-31E14638FD10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450CE-6051-4DA8-9C66-AE49E069A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119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450CE-6051-4DA8-9C66-AE49E069ACE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3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33268-EBB1-0987-04F9-0629C3BB9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F2EBB7-AB52-E64B-1463-DF50AE2FB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3FED9-18E8-6844-2D55-5B0BDF944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238B9-1BCF-412E-07B9-4FF1A2BA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243551-8E33-6AEE-3FD8-015E07F29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87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523EA-A024-D359-A75D-E0160519F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DA204D-452F-572D-A1E7-EF1DFE2D6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C10999-EFC6-A82F-983B-B8D907AC5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89B806-EFB7-CAA6-E7ED-ECC64EA99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3E86B-9BB6-08C7-6298-2A16AD86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40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7601B5-C8FC-380A-9A81-9AE617633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3A2378-ECAE-66DC-8509-C95B8B135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6CED9A-4004-401A-4059-BF024230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99C2D-5A12-2935-C4D2-37917A4B0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3D9F3B-51EB-6C93-47A2-B42C6353A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289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71A5C0-9CC0-A1A0-086F-5A6ECDC3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F762C2-3101-BB9E-3A6D-018B7D8B64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DED201-0BD2-3D9E-236C-F097E459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A5D645-B7E0-CE0D-49A0-BDD9BBA3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C5762B-184D-5D8D-2381-6EB0999C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D48ECC-103B-8C37-3EBE-377F9B83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032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F3C9A-396A-359A-44BE-5C92198DB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8773D-E00F-456A-A9BD-761EC8CC2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A69A68-8944-4DB0-0CDD-0CD1C48B66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D7DC4A-427E-8673-B88B-94A87F2C9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29358AD-4517-5533-E6CC-D0BB74DAE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138579-84BE-E4D2-EA98-26EACB08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3D00C3-4137-AC6C-61E7-3009709D5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B515B0-6B90-AE67-AB70-E0267DB1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43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62F4DC-3E38-A6C9-D3A4-599907EA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A5FE29-7F9A-FA15-CB9D-D98C63E2E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530954-265C-F302-9C35-A0D9C320A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C10F4A-1BEE-7C1B-0EB7-26138F0F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90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B6DF67-6CBA-02DC-8FF6-455B0E3B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33A9FF-8650-004F-E9F6-D025DC2E0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1DDD16-5C97-EE96-7587-5B286E1E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3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266FD-6153-059A-79DB-B85FBF85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F3C83-305A-C9AF-C940-508C4716E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8A13E9-6E6F-8E90-7D45-D3EB5C76A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A4895F-9AC2-EC43-8606-36EDFAE27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6DFD8-72B1-5B41-1BE7-0A811C40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83C9E-F967-5B78-720D-28B1F9E1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2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2D65C4-65CE-F8FA-DE0F-283DF3D5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70816B-B55A-7782-2BC6-4B68FD148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8301984-0FDF-F477-39CC-A1C7C7B58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C5A408-3542-0EBC-FC30-1C8AC68E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1D2916-4AB1-0CCC-2799-DBA987DB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2314BA-058B-1E8D-959E-36F64740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6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5B687-1133-BF5C-574B-4876B5DE0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AD0CCF-BD47-2D2B-607A-0E8C55A75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E151DD-AD1F-4A14-1AF9-E97E7E9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A16EA-2EA3-7383-EA2C-2CE2108AD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3F547-1168-CF92-CA1B-18DF013F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20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068765-5485-4602-D0DD-DA643B2AC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597B1AD-11C8-B14D-F445-626225AAC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CC14AE-5313-A20E-B942-F44DC09F4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E1F598-B4B1-3B1E-7D11-3B49114E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90314-E416-38F8-A4BB-939AC8AD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06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C359F0-6C00-F18B-B47B-CE1622D36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28C29-A14D-658D-521B-8E5932B4C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D6ABB-D385-B1BC-3BCA-01672EBAD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EEE03-A3DB-4490-BAF0-994C85018154}" type="datetimeFigureOut">
              <a:rPr lang="zh-CN" altLang="en-US" smtClean="0"/>
              <a:t>2026/9/25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31AA5D-31D7-1B58-C809-B5CDF2AF4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F1262-617C-9C24-AE20-9D84F672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1B4DF-2DFC-4982-B3A4-8ABB3CDED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404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18872" y="749808"/>
            <a:ext cx="3429000" cy="5230368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 w="15875">
            <a:solidFill>
              <a:srgbClr val="9BB7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39312" y="621792"/>
            <a:ext cx="5431536" cy="5266944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 w="14604">
            <a:solidFill>
              <a:srgbClr val="D7CDE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54312" y="585216"/>
            <a:ext cx="2606040" cy="2226564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 w="14604">
            <a:solidFill>
              <a:srgbClr val="EFD9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354312" y="3523488"/>
            <a:ext cx="2743200" cy="2350008"/>
          </a:xfrm>
          <a:prstGeom prst="roundRect">
            <a:avLst>
              <a:gd name="adj" fmla="val 12000"/>
            </a:avLst>
          </a:prstGeom>
          <a:solidFill>
            <a:srgbClr val="FCFBF8"/>
          </a:solidFill>
          <a:ln w="19050">
            <a:solidFill>
              <a:srgbClr val="C9DAD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484632"/>
            <a:ext cx="213969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D3E9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512064"/>
            <a:ext cx="2048255" cy="338328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①  多模态输入与表示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" y="2542032"/>
            <a:ext cx="3081528" cy="0"/>
          </a:xfrm>
          <a:prstGeom prst="line">
            <a:avLst/>
          </a:prstGeom>
          <a:ln w="10160">
            <a:solidFill>
              <a:srgbClr val="E2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4096512"/>
            <a:ext cx="3081528" cy="0"/>
          </a:xfrm>
          <a:prstGeom prst="line">
            <a:avLst/>
          </a:prstGeom>
          <a:ln w="10160">
            <a:solidFill>
              <a:srgbClr val="E2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9184" y="1115568"/>
            <a:ext cx="91440" cy="256032"/>
          </a:xfrm>
          <a:prstGeom prst="rect">
            <a:avLst/>
          </a:prstGeom>
          <a:solidFill>
            <a:srgbClr val="A9D3E9"/>
          </a:solidFill>
          <a:ln w="12700">
            <a:solidFill>
              <a:srgbClr val="A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9184" y="2715768"/>
            <a:ext cx="91440" cy="256032"/>
          </a:xfrm>
          <a:prstGeom prst="rect">
            <a:avLst/>
          </a:prstGeom>
          <a:solidFill>
            <a:srgbClr val="EFD98B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9184" y="4251959"/>
            <a:ext cx="91440" cy="256032"/>
          </a:xfrm>
          <a:prstGeom prst="rect">
            <a:avLst/>
          </a:prstGeom>
          <a:solidFill>
            <a:srgbClr val="EFB7B2"/>
          </a:solidFill>
          <a:ln w="12700">
            <a:solidFill>
              <a:srgbClr val="EFB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6616" y="1435608"/>
            <a:ext cx="1499616" cy="630936"/>
          </a:xfrm>
          <a:prstGeom prst="roundRect">
            <a:avLst>
              <a:gd name="adj" fmla="val 12000"/>
            </a:avLst>
          </a:prstGeom>
          <a:solidFill>
            <a:srgbClr val="E8F1F5"/>
          </a:solidFill>
          <a:ln w="12700">
            <a:solidFill>
              <a:srgbClr val="8CBFD1"/>
            </a:solidFill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  <a:reflection blurRad="6350" stA="50000" endA="300" endPos="9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" y="1463040"/>
            <a:ext cx="1408175" cy="576071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343A40"/>
                </a:solidFill>
                <a:latin typeface="Microsoft YaHei"/>
              </a:rPr>
              <a:t>“I did not like this movie at all”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2093976"/>
            <a:ext cx="1426464" cy="201168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5717B"/>
                </a:solidFill>
                <a:latin typeface="Microsoft YaHei"/>
              </a:rPr>
              <a:t>原文片段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3598362"/>
            <a:ext cx="1499616" cy="21945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err="1">
                <a:solidFill>
                  <a:srgbClr val="65717B"/>
                </a:solidFill>
                <a:latin typeface="Microsoft YaHei"/>
              </a:rPr>
              <a:t>原视频音轨波形</a:t>
            </a:r>
            <a:endParaRPr sz="1050" b="0">
              <a:solidFill>
                <a:srgbClr val="65717B"/>
              </a:solidFill>
              <a:latin typeface="Microsoft YaHei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10896" y="5632704"/>
            <a:ext cx="1664208" cy="192024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60" b="0" err="1">
                <a:solidFill>
                  <a:srgbClr val="65717B"/>
                </a:solidFill>
                <a:latin typeface="Microsoft YaHei"/>
              </a:rPr>
              <a:t>原视频场景（非定位帧</a:t>
            </a:r>
            <a:r>
              <a:rPr sz="960" b="0">
                <a:solidFill>
                  <a:srgbClr val="65717B"/>
                </a:solidFill>
                <a:latin typeface="Microsoft YaHei"/>
              </a:rPr>
              <a:t>）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856232" y="1786060"/>
            <a:ext cx="182879" cy="0"/>
          </a:xfrm>
          <a:prstGeom prst="line">
            <a:avLst/>
          </a:prstGeom>
          <a:ln w="1778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5400000">
            <a:off x="2002536" y="1718398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8" name="Connector 97"/>
          <p:cNvCxnSpPr/>
          <p:nvPr/>
        </p:nvCxnSpPr>
        <p:spPr>
          <a:xfrm>
            <a:off x="1883664" y="3226107"/>
            <a:ext cx="182879" cy="0"/>
          </a:xfrm>
          <a:prstGeom prst="line">
            <a:avLst/>
          </a:prstGeom>
          <a:ln w="1778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/>
          <p:cNvSpPr/>
          <p:nvPr/>
        </p:nvSpPr>
        <p:spPr>
          <a:xfrm rot="5400000">
            <a:off x="2021553" y="3169303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2" name="Connector 101"/>
          <p:cNvCxnSpPr>
            <a:cxnSpLocks/>
          </p:cNvCxnSpPr>
          <p:nvPr/>
        </p:nvCxnSpPr>
        <p:spPr>
          <a:xfrm>
            <a:off x="1842515" y="5001768"/>
            <a:ext cx="224028" cy="0"/>
          </a:xfrm>
          <a:prstGeom prst="line">
            <a:avLst/>
          </a:prstGeom>
          <a:ln w="1778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Isosceles Triangle 102"/>
          <p:cNvSpPr/>
          <p:nvPr/>
        </p:nvSpPr>
        <p:spPr>
          <a:xfrm rot="5400000">
            <a:off x="1997963" y="4933188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4700016" y="420624"/>
            <a:ext cx="3273552" cy="402336"/>
          </a:xfrm>
          <a:prstGeom prst="roundRect">
            <a:avLst>
              <a:gd name="adj" fmla="val 12000"/>
            </a:avLst>
          </a:prstGeom>
          <a:solidFill>
            <a:srgbClr val="DCEED8"/>
          </a:solidFill>
          <a:ln w="12700">
            <a:solidFill>
              <a:srgbClr val="79A86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745736" y="494064"/>
            <a:ext cx="3182112" cy="255455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86044"/>
                </a:solidFill>
                <a:latin typeface="Microsoft YaHei"/>
              </a:rPr>
              <a:t>②  情感预测与 HEAF 解释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903470" y="1764792"/>
            <a:ext cx="228600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Isosceles Triangle 116"/>
          <p:cNvSpPr/>
          <p:nvPr/>
        </p:nvSpPr>
        <p:spPr>
          <a:xfrm rot="5400000">
            <a:off x="5063489" y="169621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8" name="Connector 127"/>
          <p:cNvCxnSpPr/>
          <p:nvPr/>
        </p:nvCxnSpPr>
        <p:spPr>
          <a:xfrm>
            <a:off x="3840480" y="2645664"/>
            <a:ext cx="5001768" cy="0"/>
          </a:xfrm>
          <a:prstGeom prst="line">
            <a:avLst/>
          </a:prstGeom>
          <a:ln w="10160">
            <a:solidFill>
              <a:srgbClr val="D4DC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6327648" y="2203704"/>
            <a:ext cx="0" cy="539496"/>
          </a:xfrm>
          <a:prstGeom prst="line">
            <a:avLst/>
          </a:prstGeom>
          <a:ln w="15875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Isosceles Triangle 129"/>
          <p:cNvSpPr/>
          <p:nvPr/>
        </p:nvSpPr>
        <p:spPr>
          <a:xfrm rot="10800000">
            <a:off x="6259068" y="2674620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886200" y="2766348"/>
            <a:ext cx="1516314" cy="255455"/>
          </a:xfrm>
          <a:prstGeom prst="rect">
            <a:avLst/>
          </a:prstGeom>
          <a:solidFill>
            <a:srgbClr val="F0F7F4"/>
          </a:solidFill>
        </p:spPr>
        <p:txBody>
          <a:bodyPr wrap="square" lIns="18288" tIns="4572" rIns="18288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A7F62"/>
                </a:solidFill>
                <a:latin typeface="Microsoft YaHei"/>
              </a:rPr>
              <a:t>HEAF </a:t>
            </a:r>
            <a:r>
              <a:rPr sz="1600" b="1" err="1">
                <a:solidFill>
                  <a:srgbClr val="2A7F62"/>
                </a:solidFill>
                <a:latin typeface="Microsoft YaHei"/>
              </a:rPr>
              <a:t>层级解释</a:t>
            </a:r>
            <a:endParaRPr sz="1600" b="1">
              <a:solidFill>
                <a:srgbClr val="2A7F62"/>
              </a:solidFill>
              <a:latin typeface="Microsoft YaHei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3768090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DCEED8"/>
          </a:solidFill>
          <a:ln>
            <a:solidFill>
              <a:srgbClr val="79A86B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804666" y="4312855"/>
            <a:ext cx="1078992" cy="17081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43A40"/>
                </a:solidFill>
                <a:latin typeface="Microsoft YaHei"/>
              </a:rPr>
              <a:t>八种联盟</a:t>
            </a:r>
            <a:endParaRPr sz="1230" b="1">
              <a:solidFill>
                <a:srgbClr val="343A40"/>
              </a:solidFill>
              <a:latin typeface="Microsoft YaHei"/>
            </a:endParaRPr>
          </a:p>
        </p:txBody>
      </p:sp>
      <p:sp>
        <p:nvSpPr>
          <p:cNvPr id="134" name="Rounded Rectangle 133"/>
          <p:cNvSpPr/>
          <p:nvPr/>
        </p:nvSpPr>
        <p:spPr>
          <a:xfrm>
            <a:off x="5103876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D8E8F5"/>
          </a:solidFill>
          <a:ln>
            <a:solidFill>
              <a:srgbClr val="5B8DB8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140452" y="4232064"/>
            <a:ext cx="1078992" cy="332399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各模态贡献度</a:t>
            </a:r>
            <a:endParaRPr lang="en-US" altLang="zh-CN" sz="1050" b="1">
              <a:solidFill>
                <a:srgbClr val="343A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主导模态识别</a:t>
            </a:r>
            <a:endParaRPr sz="900" b="1">
              <a:solidFill>
                <a:srgbClr val="343A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Rounded Rectangle 135"/>
          <p:cNvSpPr/>
          <p:nvPr/>
        </p:nvSpPr>
        <p:spPr>
          <a:xfrm>
            <a:off x="6435852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FBE3CC"/>
          </a:solidFill>
          <a:ln>
            <a:solidFill>
              <a:srgbClr val="D88A3D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6472428" y="4232065"/>
            <a:ext cx="1078992" cy="332399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0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模态间协同</a:t>
            </a:r>
            <a:r>
              <a:rPr lang="en-US" altLang="zh-CN" sz="10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0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抑制交互强度分析</a:t>
            </a:r>
            <a:endParaRPr sz="1050" b="1">
              <a:solidFill>
                <a:srgbClr val="343A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7775448" y="3227832"/>
            <a:ext cx="1152144" cy="1417320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 w="12700">
            <a:solidFill>
              <a:srgbClr val="8B7A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812023" y="4312856"/>
            <a:ext cx="1078992" cy="17081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/>
            <a:r>
              <a:rPr sz="1050" b="1">
                <a:solidFill>
                  <a:srgbClr val="343A40"/>
                </a:solidFill>
                <a:latin typeface="Microsoft YaHei"/>
              </a:rPr>
              <a:t>时间遮挡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6858000" y="3645408"/>
            <a:ext cx="347472" cy="0"/>
          </a:xfrm>
          <a:prstGeom prst="line">
            <a:avLst/>
          </a:prstGeom>
          <a:ln w="12700">
            <a:solidFill>
              <a:srgbClr val="65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6858000" y="3672840"/>
            <a:ext cx="146304" cy="274320"/>
          </a:xfrm>
          <a:prstGeom prst="line">
            <a:avLst/>
          </a:prstGeom>
          <a:ln w="12700">
            <a:solidFill>
              <a:srgbClr val="65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H="1">
            <a:off x="7013448" y="3672840"/>
            <a:ext cx="192024" cy="274320"/>
          </a:xfrm>
          <a:prstGeom prst="line">
            <a:avLst/>
          </a:prstGeom>
          <a:ln w="12700">
            <a:solidFill>
              <a:srgbClr val="6571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7830312" y="3977639"/>
            <a:ext cx="1033271" cy="182880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err="1">
                <a:solidFill>
                  <a:srgbClr val="65717B"/>
                </a:solidFill>
                <a:latin typeface="Microsoft YaHei"/>
              </a:rPr>
              <a:t>连续特征槽位</a:t>
            </a:r>
            <a:endParaRPr sz="950" b="0">
              <a:solidFill>
                <a:srgbClr val="65717B"/>
              </a:solidFill>
              <a:latin typeface="Microsoft YaHei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9674352" y="438912"/>
            <a:ext cx="1956816" cy="393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D98B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9720072" y="466344"/>
            <a:ext cx="1865376" cy="338328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③  解释结果输出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9467058" y="890646"/>
            <a:ext cx="853573" cy="291946"/>
          </a:xfrm>
          <a:prstGeom prst="roundRect">
            <a:avLst>
              <a:gd name="adj" fmla="val 12000"/>
            </a:avLst>
          </a:prstGeom>
          <a:solidFill>
            <a:srgbClr val="FBE1E6"/>
          </a:solidFill>
          <a:ln w="12700">
            <a:solidFill>
              <a:srgbClr val="EF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184" name="TextBox 183"/>
          <p:cNvSpPr txBox="1"/>
          <p:nvPr/>
        </p:nvSpPr>
        <p:spPr>
          <a:xfrm>
            <a:off x="9506153" y="909059"/>
            <a:ext cx="812337" cy="24006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err="1">
                <a:solidFill>
                  <a:srgbClr val="343A40"/>
                </a:solidFill>
                <a:latin typeface="Microsoft YaHei"/>
              </a:rPr>
              <a:t>解释卡</a:t>
            </a:r>
            <a:endParaRPr sz="1500" b="1">
              <a:solidFill>
                <a:srgbClr val="343A40"/>
              </a:solidFill>
              <a:latin typeface="Microsoft YaHei"/>
            </a:endParaRPr>
          </a:p>
        </p:txBody>
      </p:sp>
      <p:sp>
        <p:nvSpPr>
          <p:cNvPr id="198" name="Isosceles Triangle 197"/>
          <p:cNvSpPr/>
          <p:nvPr/>
        </p:nvSpPr>
        <p:spPr>
          <a:xfrm rot="10800000">
            <a:off x="10602468" y="3564635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ounded Rectangle 198"/>
          <p:cNvSpPr/>
          <p:nvPr/>
        </p:nvSpPr>
        <p:spPr>
          <a:xfrm>
            <a:off x="9601200" y="3395472"/>
            <a:ext cx="2212848" cy="393192"/>
          </a:xfrm>
          <a:prstGeom prst="roundRect">
            <a:avLst>
              <a:gd name="adj" fmla="val 12000"/>
            </a:avLst>
          </a:prstGeom>
          <a:solidFill>
            <a:srgbClr val="DCEEF9"/>
          </a:solidFill>
          <a:ln w="12700">
            <a:solidFill>
              <a:srgbClr val="6C9F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9646920" y="3464339"/>
            <a:ext cx="2121408" cy="255455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>
                <a:solidFill>
                  <a:srgbClr val="343A40"/>
                </a:solidFill>
                <a:latin typeface="Segoe UI Symbol" panose="020B0502040204020203" pitchFamily="34" charset="0"/>
                <a:ea typeface="Segoe UI Symbol" panose="020B0502040204020203" pitchFamily="34" charset="0"/>
              </a:rPr>
              <a:t>④</a:t>
            </a:r>
            <a:r>
              <a:rPr sz="1600" b="1">
                <a:solidFill>
                  <a:srgbClr val="343A40"/>
                </a:solidFill>
                <a:latin typeface="Microsoft YaHei"/>
              </a:rPr>
              <a:t>证据回溯与有效性</a:t>
            </a:r>
          </a:p>
        </p:txBody>
      </p:sp>
      <p:sp>
        <p:nvSpPr>
          <p:cNvPr id="210" name="Rounded Rectangle 16">
            <a:extLst>
              <a:ext uri="{FF2B5EF4-FFF2-40B4-BE49-F238E27FC236}">
                <a16:creationId xmlns:a16="http://schemas.microsoft.com/office/drawing/2014/main" id="{EFFB830C-6C3F-5106-B561-529A0518B904}"/>
              </a:ext>
            </a:extLst>
          </p:cNvPr>
          <p:cNvSpPr/>
          <p:nvPr/>
        </p:nvSpPr>
        <p:spPr>
          <a:xfrm>
            <a:off x="357543" y="2984854"/>
            <a:ext cx="1499616" cy="630936"/>
          </a:xfrm>
          <a:prstGeom prst="roundRect">
            <a:avLst>
              <a:gd name="adj" fmla="val 12000"/>
            </a:avLst>
          </a:prstGeom>
          <a:solidFill>
            <a:srgbClr val="FEF7E8"/>
          </a:solidFill>
          <a:ln w="12700">
            <a:solidFill>
              <a:srgbClr val="E39C45"/>
            </a:solidFill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  <a:reflection blurRad="6350" stA="50000" endA="300" endPos="90000" dir="5400000" sy="-100000" algn="bl" rotWithShape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TextBox 207"/>
          <p:cNvSpPr txBox="1"/>
          <p:nvPr/>
        </p:nvSpPr>
        <p:spPr>
          <a:xfrm>
            <a:off x="502920" y="6221777"/>
            <a:ext cx="11164824" cy="147733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err="1">
                <a:solidFill>
                  <a:srgbClr val="94A3B8"/>
                </a:solidFill>
                <a:latin typeface="Microsoft YaHei"/>
              </a:rPr>
              <a:t>原视频画面与音频波形仅作输入示例，不表示解释模型定位的关键时间或帧</a:t>
            </a:r>
            <a:r>
              <a:rPr sz="900" b="0">
                <a:solidFill>
                  <a:srgbClr val="94A3B8"/>
                </a:solidFill>
                <a:latin typeface="Microsoft YaHei"/>
              </a:rPr>
              <a:t>。</a:t>
            </a:r>
          </a:p>
        </p:txBody>
      </p: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627E1D6D-8454-D789-A9F4-E240C8DA1BC1}"/>
              </a:ext>
            </a:extLst>
          </p:cNvPr>
          <p:cNvGrpSpPr/>
          <p:nvPr/>
        </p:nvGrpSpPr>
        <p:grpSpPr>
          <a:xfrm>
            <a:off x="447725" y="2989488"/>
            <a:ext cx="1335024" cy="612648"/>
            <a:chOff x="438912" y="2977696"/>
            <a:chExt cx="1335024" cy="612648"/>
          </a:xfrm>
        </p:grpSpPr>
        <p:cxnSp>
          <p:nvCxnSpPr>
            <p:cNvPr id="20" name="Connector 19"/>
            <p:cNvCxnSpPr/>
            <p:nvPr/>
          </p:nvCxnSpPr>
          <p:spPr>
            <a:xfrm>
              <a:off x="438912" y="3284020"/>
              <a:ext cx="1335024" cy="0"/>
            </a:xfrm>
            <a:prstGeom prst="line">
              <a:avLst/>
            </a:prstGeom>
            <a:ln w="5715">
              <a:solidFill>
                <a:srgbClr val="D4B87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438912" y="3250793"/>
              <a:ext cx="0" cy="6645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458260" y="3247442"/>
              <a:ext cx="0" cy="7315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477608" y="3246832"/>
              <a:ext cx="0" cy="7437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496956" y="3246769"/>
              <a:ext cx="0" cy="7450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516304" y="3248920"/>
              <a:ext cx="0" cy="7019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535652" y="3252423"/>
              <a:ext cx="0" cy="6319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>
              <a:off x="555001" y="3221964"/>
              <a:ext cx="0" cy="12411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574349" y="3181389"/>
              <a:ext cx="0" cy="20526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593697" y="3194144"/>
              <a:ext cx="0" cy="17975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613045" y="3192118"/>
              <a:ext cx="0" cy="18380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632393" y="3178073"/>
              <a:ext cx="0" cy="21189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651741" y="3187857"/>
              <a:ext cx="0" cy="19232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671090" y="3205992"/>
              <a:ext cx="0" cy="15605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690438" y="3246670"/>
              <a:ext cx="0" cy="7469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709786" y="3210410"/>
              <a:ext cx="0" cy="14721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729134" y="3069485"/>
              <a:ext cx="0" cy="42906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748482" y="2977696"/>
              <a:ext cx="0" cy="612648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767830" y="3096521"/>
              <a:ext cx="0" cy="37499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787179" y="3184731"/>
              <a:ext cx="0" cy="19857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or 39"/>
            <p:cNvCxnSpPr/>
            <p:nvPr/>
          </p:nvCxnSpPr>
          <p:spPr>
            <a:xfrm>
              <a:off x="806527" y="3099248"/>
              <a:ext cx="0" cy="36954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or 40"/>
            <p:cNvCxnSpPr/>
            <p:nvPr/>
          </p:nvCxnSpPr>
          <p:spPr>
            <a:xfrm>
              <a:off x="825875" y="3143193"/>
              <a:ext cx="0" cy="28165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845223" y="3116706"/>
              <a:ext cx="0" cy="33462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864571" y="3227561"/>
              <a:ext cx="0" cy="11291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883919" y="3199622"/>
              <a:ext cx="0" cy="16879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903268" y="3235922"/>
              <a:ext cx="0" cy="9619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922616" y="3237564"/>
              <a:ext cx="0" cy="9291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941964" y="3195571"/>
              <a:ext cx="0" cy="17689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>
              <a:off x="961312" y="3214513"/>
              <a:ext cx="0" cy="13901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>
              <a:off x="980660" y="3231021"/>
              <a:ext cx="0" cy="10599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>
              <a:off x="1000009" y="3227506"/>
              <a:ext cx="0" cy="11302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>
              <a:off x="1019357" y="3205251"/>
              <a:ext cx="0" cy="15753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>
              <a:off x="1038705" y="3214361"/>
              <a:ext cx="0" cy="13931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>
              <a:off x="1058053" y="3222993"/>
              <a:ext cx="0" cy="12205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>
              <a:off x="1077401" y="3207004"/>
              <a:ext cx="0" cy="15403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>
              <a:off x="1096749" y="3222169"/>
              <a:ext cx="0" cy="12370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1116098" y="3217471"/>
              <a:ext cx="0" cy="13309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1135446" y="3212968"/>
              <a:ext cx="0" cy="14210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1154794" y="3216583"/>
              <a:ext cx="0" cy="13487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1174142" y="3239233"/>
              <a:ext cx="0" cy="8957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193490" y="3230436"/>
              <a:ext cx="0" cy="10716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1212838" y="3227509"/>
              <a:ext cx="0" cy="11302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 61"/>
            <p:cNvCxnSpPr/>
            <p:nvPr/>
          </p:nvCxnSpPr>
          <p:spPr>
            <a:xfrm>
              <a:off x="1232187" y="3230819"/>
              <a:ext cx="0" cy="10640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62"/>
            <p:cNvCxnSpPr/>
            <p:nvPr/>
          </p:nvCxnSpPr>
          <p:spPr>
            <a:xfrm>
              <a:off x="1251535" y="3233504"/>
              <a:ext cx="0" cy="10103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or 63"/>
            <p:cNvCxnSpPr/>
            <p:nvPr/>
          </p:nvCxnSpPr>
          <p:spPr>
            <a:xfrm>
              <a:off x="1270883" y="3201255"/>
              <a:ext cx="0" cy="16552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1290231" y="3232053"/>
              <a:ext cx="0" cy="10393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>
              <a:off x="1309579" y="3215114"/>
              <a:ext cx="0" cy="13781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1328927" y="3245048"/>
              <a:ext cx="0" cy="7794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>
              <a:off x="1348276" y="3233166"/>
              <a:ext cx="0" cy="10170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1367624" y="3229743"/>
              <a:ext cx="0" cy="10855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1386972" y="3234035"/>
              <a:ext cx="0" cy="9996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1406320" y="3236635"/>
              <a:ext cx="0" cy="9476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1425668" y="3207027"/>
              <a:ext cx="0" cy="15398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1445017" y="3181940"/>
              <a:ext cx="0" cy="20415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1464365" y="3239254"/>
              <a:ext cx="0" cy="8953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or 74"/>
            <p:cNvCxnSpPr/>
            <p:nvPr/>
          </p:nvCxnSpPr>
          <p:spPr>
            <a:xfrm>
              <a:off x="1483713" y="3247242"/>
              <a:ext cx="0" cy="7355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nector 75"/>
            <p:cNvCxnSpPr/>
            <p:nvPr/>
          </p:nvCxnSpPr>
          <p:spPr>
            <a:xfrm>
              <a:off x="1503061" y="3243424"/>
              <a:ext cx="0" cy="8119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1522409" y="3221877"/>
              <a:ext cx="0" cy="12428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1541757" y="3229129"/>
              <a:ext cx="0" cy="109781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1561106" y="3222032"/>
              <a:ext cx="0" cy="12397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1580454" y="3217902"/>
              <a:ext cx="0" cy="13223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1599802" y="3218640"/>
              <a:ext cx="0" cy="13075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1619150" y="3229736"/>
              <a:ext cx="0" cy="10856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1638498" y="3218511"/>
              <a:ext cx="0" cy="13101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1657846" y="3162082"/>
              <a:ext cx="0" cy="24387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1677195" y="3125128"/>
              <a:ext cx="0" cy="317783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>
              <a:off x="1696543" y="3164272"/>
              <a:ext cx="0" cy="23949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or 86"/>
            <p:cNvCxnSpPr/>
            <p:nvPr/>
          </p:nvCxnSpPr>
          <p:spPr>
            <a:xfrm>
              <a:off x="1715891" y="3167391"/>
              <a:ext cx="0" cy="23325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or 87"/>
            <p:cNvCxnSpPr/>
            <p:nvPr/>
          </p:nvCxnSpPr>
          <p:spPr>
            <a:xfrm>
              <a:off x="1735239" y="3130812"/>
              <a:ext cx="0" cy="306415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nector 88"/>
            <p:cNvCxnSpPr/>
            <p:nvPr/>
          </p:nvCxnSpPr>
          <p:spPr>
            <a:xfrm>
              <a:off x="1754587" y="3194855"/>
              <a:ext cx="0" cy="178329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nector 89"/>
            <p:cNvCxnSpPr/>
            <p:nvPr/>
          </p:nvCxnSpPr>
          <p:spPr>
            <a:xfrm>
              <a:off x="1773936" y="3198641"/>
              <a:ext cx="0" cy="170757"/>
            </a:xfrm>
            <a:prstGeom prst="line">
              <a:avLst/>
            </a:prstGeom>
            <a:ln w="12700">
              <a:solidFill>
                <a:srgbClr val="A677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流程图: 可选过程 208">
            <a:extLst>
              <a:ext uri="{FF2B5EF4-FFF2-40B4-BE49-F238E27FC236}">
                <a16:creationId xmlns:a16="http://schemas.microsoft.com/office/drawing/2014/main" id="{ABFEB944-4CBF-C190-7766-D0576107E521}"/>
              </a:ext>
            </a:extLst>
          </p:cNvPr>
          <p:cNvSpPr/>
          <p:nvPr/>
        </p:nvSpPr>
        <p:spPr>
          <a:xfrm>
            <a:off x="9475304" y="1207770"/>
            <a:ext cx="2387512" cy="694944"/>
          </a:xfrm>
          <a:prstGeom prst="flowChartAlternateProcess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FB7B2"/>
              </a:solidFill>
            </a:endParaRP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83A991FD-DE47-80B1-4833-07A258247210}"/>
              </a:ext>
            </a:extLst>
          </p:cNvPr>
          <p:cNvSpPr/>
          <p:nvPr/>
        </p:nvSpPr>
        <p:spPr>
          <a:xfrm>
            <a:off x="9544050" y="1285494"/>
            <a:ext cx="723900" cy="154686"/>
          </a:xfrm>
          <a:prstGeom prst="roundRect">
            <a:avLst/>
          </a:prstGeom>
          <a:solidFill>
            <a:srgbClr val="D85C6A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5F004BE3-734F-F9C2-1C51-E2FFE10230A0}"/>
              </a:ext>
            </a:extLst>
          </p:cNvPr>
          <p:cNvSpPr txBox="1"/>
          <p:nvPr/>
        </p:nvSpPr>
        <p:spPr>
          <a:xfrm>
            <a:off x="9610725" y="1244346"/>
            <a:ext cx="71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/>
              <a:t>预测结果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4C639E62-9BF6-C385-244E-0A3F01DA081E}"/>
              </a:ext>
            </a:extLst>
          </p:cNvPr>
          <p:cNvSpPr txBox="1"/>
          <p:nvPr/>
        </p:nvSpPr>
        <p:spPr>
          <a:xfrm>
            <a:off x="9901428" y="1424660"/>
            <a:ext cx="4343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/>
              <a:t>类别：</a:t>
            </a: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6B40E40D-C22B-AEDC-ACC6-D6E168AC8B8B}"/>
              </a:ext>
            </a:extLst>
          </p:cNvPr>
          <p:cNvSpPr txBox="1"/>
          <p:nvPr/>
        </p:nvSpPr>
        <p:spPr>
          <a:xfrm>
            <a:off x="9732264" y="1614118"/>
            <a:ext cx="71932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b="1"/>
              <a:t>情感强度：</a:t>
            </a:r>
          </a:p>
        </p:txBody>
      </p:sp>
      <p:sp>
        <p:nvSpPr>
          <p:cNvPr id="218" name="文本框 217">
            <a:extLst>
              <a:ext uri="{FF2B5EF4-FFF2-40B4-BE49-F238E27FC236}">
                <a16:creationId xmlns:a16="http://schemas.microsoft.com/office/drawing/2014/main" id="{6E51D30C-7C98-47F3-1A06-BEFA30E0259C}"/>
              </a:ext>
            </a:extLst>
          </p:cNvPr>
          <p:cNvSpPr txBox="1"/>
          <p:nvPr/>
        </p:nvSpPr>
        <p:spPr>
          <a:xfrm>
            <a:off x="10290810" y="1416966"/>
            <a:ext cx="6362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rgbClr val="FF0000"/>
                </a:solidFill>
              </a:rPr>
              <a:t>Negative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220" name="流程图: 可选过程 219">
            <a:extLst>
              <a:ext uri="{FF2B5EF4-FFF2-40B4-BE49-F238E27FC236}">
                <a16:creationId xmlns:a16="http://schemas.microsoft.com/office/drawing/2014/main" id="{E2732285-1D14-7347-4342-2066A204CAD1}"/>
              </a:ext>
            </a:extLst>
          </p:cNvPr>
          <p:cNvSpPr/>
          <p:nvPr/>
        </p:nvSpPr>
        <p:spPr>
          <a:xfrm>
            <a:off x="10934700" y="1657438"/>
            <a:ext cx="335280" cy="15612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流程图: 可选过程 220">
            <a:extLst>
              <a:ext uri="{FF2B5EF4-FFF2-40B4-BE49-F238E27FC236}">
                <a16:creationId xmlns:a16="http://schemas.microsoft.com/office/drawing/2014/main" id="{59B86271-E01C-F869-901E-9A2CAC19CCE0}"/>
              </a:ext>
            </a:extLst>
          </p:cNvPr>
          <p:cNvSpPr/>
          <p:nvPr/>
        </p:nvSpPr>
        <p:spPr>
          <a:xfrm>
            <a:off x="9475304" y="1930146"/>
            <a:ext cx="2387512" cy="794004"/>
          </a:xfrm>
          <a:prstGeom prst="flowChartAlternateProcess">
            <a:avLst/>
          </a:prstGeom>
          <a:solidFill>
            <a:srgbClr val="FFF1B8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FB7B2"/>
              </a:solidFill>
            </a:endParaRPr>
          </a:p>
        </p:txBody>
      </p:sp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51CA465A-5ACA-6BA5-83AD-14EACDCF8413}"/>
              </a:ext>
            </a:extLst>
          </p:cNvPr>
          <p:cNvSpPr/>
          <p:nvPr/>
        </p:nvSpPr>
        <p:spPr>
          <a:xfrm>
            <a:off x="9544050" y="2007870"/>
            <a:ext cx="723900" cy="1546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文本框 222">
            <a:extLst>
              <a:ext uri="{FF2B5EF4-FFF2-40B4-BE49-F238E27FC236}">
                <a16:creationId xmlns:a16="http://schemas.microsoft.com/office/drawing/2014/main" id="{CACD5BEE-3052-0A43-8E13-B5F9E2C3B165}"/>
              </a:ext>
            </a:extLst>
          </p:cNvPr>
          <p:cNvSpPr txBox="1"/>
          <p:nvPr/>
        </p:nvSpPr>
        <p:spPr>
          <a:xfrm>
            <a:off x="9610725" y="1966722"/>
            <a:ext cx="71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/>
              <a:t>模态贡献</a:t>
            </a:r>
          </a:p>
        </p:txBody>
      </p:sp>
      <p:sp>
        <p:nvSpPr>
          <p:cNvPr id="224" name="文本框 223">
            <a:extLst>
              <a:ext uri="{FF2B5EF4-FFF2-40B4-BE49-F238E27FC236}">
                <a16:creationId xmlns:a16="http://schemas.microsoft.com/office/drawing/2014/main" id="{B42AE70A-0E9C-6039-2DEC-FB1EFFDC3608}"/>
              </a:ext>
            </a:extLst>
          </p:cNvPr>
          <p:cNvSpPr txBox="1"/>
          <p:nvPr/>
        </p:nvSpPr>
        <p:spPr>
          <a:xfrm>
            <a:off x="9901428" y="2147036"/>
            <a:ext cx="4343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Text</a:t>
            </a:r>
            <a:endParaRPr lang="zh-CN" altLang="en-US" sz="800" b="1"/>
          </a:p>
        </p:txBody>
      </p:sp>
      <p:sp>
        <p:nvSpPr>
          <p:cNvPr id="225" name="文本框 224">
            <a:extLst>
              <a:ext uri="{FF2B5EF4-FFF2-40B4-BE49-F238E27FC236}">
                <a16:creationId xmlns:a16="http://schemas.microsoft.com/office/drawing/2014/main" id="{EBDC948B-B079-DA97-0037-13F8D620B63C}"/>
              </a:ext>
            </a:extLst>
          </p:cNvPr>
          <p:cNvSpPr txBox="1"/>
          <p:nvPr/>
        </p:nvSpPr>
        <p:spPr>
          <a:xfrm>
            <a:off x="9907524" y="2336494"/>
            <a:ext cx="4785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Audio</a:t>
            </a:r>
            <a:endParaRPr lang="zh-CN" altLang="en-US" sz="800" b="1"/>
          </a:p>
        </p:txBody>
      </p:sp>
      <p:sp>
        <p:nvSpPr>
          <p:cNvPr id="226" name="文本框 225">
            <a:extLst>
              <a:ext uri="{FF2B5EF4-FFF2-40B4-BE49-F238E27FC236}">
                <a16:creationId xmlns:a16="http://schemas.microsoft.com/office/drawing/2014/main" id="{2D76E089-0134-5287-6897-35F2949081EA}"/>
              </a:ext>
            </a:extLst>
          </p:cNvPr>
          <p:cNvSpPr txBox="1"/>
          <p:nvPr/>
        </p:nvSpPr>
        <p:spPr>
          <a:xfrm>
            <a:off x="10241280" y="2139342"/>
            <a:ext cx="4229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rgbClr val="FF0000"/>
                </a:solidFill>
              </a:rPr>
              <a:t>0.56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228" name="流程图: 可选过程 227">
            <a:extLst>
              <a:ext uri="{FF2B5EF4-FFF2-40B4-BE49-F238E27FC236}">
                <a16:creationId xmlns:a16="http://schemas.microsoft.com/office/drawing/2014/main" id="{54BF6F4D-4781-3F1B-8809-04D347C87A1C}"/>
              </a:ext>
            </a:extLst>
          </p:cNvPr>
          <p:cNvSpPr/>
          <p:nvPr/>
        </p:nvSpPr>
        <p:spPr>
          <a:xfrm>
            <a:off x="10649712" y="2551938"/>
            <a:ext cx="335280" cy="15612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532F52A6-C73C-4D1D-34A5-7280DEF5F418}"/>
              </a:ext>
            </a:extLst>
          </p:cNvPr>
          <p:cNvSpPr txBox="1"/>
          <p:nvPr/>
        </p:nvSpPr>
        <p:spPr>
          <a:xfrm>
            <a:off x="9907524" y="2508504"/>
            <a:ext cx="4785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/>
              <a:t>Vision</a:t>
            </a:r>
            <a:endParaRPr lang="zh-CN" altLang="en-US" sz="800" b="1"/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E3C5B616-4152-34F5-ED12-6CDD70A18809}"/>
              </a:ext>
            </a:extLst>
          </p:cNvPr>
          <p:cNvSpPr txBox="1"/>
          <p:nvPr/>
        </p:nvSpPr>
        <p:spPr>
          <a:xfrm>
            <a:off x="10241280" y="2346540"/>
            <a:ext cx="4229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rgbClr val="FF0000"/>
                </a:solidFill>
              </a:rPr>
              <a:t>0.28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9E0DFC11-8013-ACCD-E9CA-33E7B06CF01B}"/>
              </a:ext>
            </a:extLst>
          </p:cNvPr>
          <p:cNvSpPr txBox="1"/>
          <p:nvPr/>
        </p:nvSpPr>
        <p:spPr>
          <a:xfrm>
            <a:off x="10241280" y="2510790"/>
            <a:ext cx="42291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rgbClr val="FF0000"/>
                </a:solidFill>
              </a:rPr>
              <a:t>0.16</a:t>
            </a:r>
            <a:endParaRPr lang="zh-CN" altLang="en-US" sz="900">
              <a:solidFill>
                <a:srgbClr val="FF0000"/>
              </a:solidFill>
            </a:endParaRPr>
          </a:p>
        </p:txBody>
      </p:sp>
      <p:sp>
        <p:nvSpPr>
          <p:cNvPr id="235" name="流程图: 可选过程 234">
            <a:extLst>
              <a:ext uri="{FF2B5EF4-FFF2-40B4-BE49-F238E27FC236}">
                <a16:creationId xmlns:a16="http://schemas.microsoft.com/office/drawing/2014/main" id="{302284FE-D3C4-0FF3-B908-674BFF1F58A6}"/>
              </a:ext>
            </a:extLst>
          </p:cNvPr>
          <p:cNvSpPr/>
          <p:nvPr/>
        </p:nvSpPr>
        <p:spPr>
          <a:xfrm>
            <a:off x="10390632" y="1657012"/>
            <a:ext cx="540258" cy="156122"/>
          </a:xfrm>
          <a:prstGeom prst="flowChartAlternate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流程图: 可选过程 235">
            <a:extLst>
              <a:ext uri="{FF2B5EF4-FFF2-40B4-BE49-F238E27FC236}">
                <a16:creationId xmlns:a16="http://schemas.microsoft.com/office/drawing/2014/main" id="{769222C4-7E9D-F2FA-1DD0-D63241B9F335}"/>
              </a:ext>
            </a:extLst>
          </p:cNvPr>
          <p:cNvSpPr/>
          <p:nvPr/>
        </p:nvSpPr>
        <p:spPr>
          <a:xfrm>
            <a:off x="10649712" y="2378290"/>
            <a:ext cx="574548" cy="156122"/>
          </a:xfrm>
          <a:prstGeom prst="flowChartAlternate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流程图: 可选过程 236">
            <a:extLst>
              <a:ext uri="{FF2B5EF4-FFF2-40B4-BE49-F238E27FC236}">
                <a16:creationId xmlns:a16="http://schemas.microsoft.com/office/drawing/2014/main" id="{E6A71F1A-62A1-D16A-1C2A-640EDBF418EB}"/>
              </a:ext>
            </a:extLst>
          </p:cNvPr>
          <p:cNvSpPr/>
          <p:nvPr/>
        </p:nvSpPr>
        <p:spPr>
          <a:xfrm>
            <a:off x="10649712" y="2194560"/>
            <a:ext cx="860298" cy="156122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椭圆 237">
            <a:extLst>
              <a:ext uri="{FF2B5EF4-FFF2-40B4-BE49-F238E27FC236}">
                <a16:creationId xmlns:a16="http://schemas.microsoft.com/office/drawing/2014/main" id="{4B43C118-6B2C-E061-914C-427317F095D2}"/>
              </a:ext>
            </a:extLst>
          </p:cNvPr>
          <p:cNvSpPr/>
          <p:nvPr/>
        </p:nvSpPr>
        <p:spPr>
          <a:xfrm>
            <a:off x="6777990" y="3578042"/>
            <a:ext cx="140519" cy="1405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椭圆 239">
            <a:extLst>
              <a:ext uri="{FF2B5EF4-FFF2-40B4-BE49-F238E27FC236}">
                <a16:creationId xmlns:a16="http://schemas.microsoft.com/office/drawing/2014/main" id="{7B2679CB-7BB0-8812-707D-52396DA4D9CC}"/>
              </a:ext>
            </a:extLst>
          </p:cNvPr>
          <p:cNvSpPr/>
          <p:nvPr/>
        </p:nvSpPr>
        <p:spPr>
          <a:xfrm>
            <a:off x="7123176" y="3582050"/>
            <a:ext cx="140519" cy="140519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B22AE92D-C2B3-CF03-78DC-C26C4CA4C072}"/>
              </a:ext>
            </a:extLst>
          </p:cNvPr>
          <p:cNvSpPr/>
          <p:nvPr/>
        </p:nvSpPr>
        <p:spPr>
          <a:xfrm>
            <a:off x="6943795" y="3860941"/>
            <a:ext cx="140519" cy="140519"/>
          </a:xfrm>
          <a:prstGeom prst="ellipse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13E31110-D15C-03C3-383E-DDB05E56037A}"/>
              </a:ext>
            </a:extLst>
          </p:cNvPr>
          <p:cNvSpPr/>
          <p:nvPr/>
        </p:nvSpPr>
        <p:spPr>
          <a:xfrm>
            <a:off x="5215890" y="3372612"/>
            <a:ext cx="45719" cy="829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流程图: 可选过程 244">
            <a:extLst>
              <a:ext uri="{FF2B5EF4-FFF2-40B4-BE49-F238E27FC236}">
                <a16:creationId xmlns:a16="http://schemas.microsoft.com/office/drawing/2014/main" id="{1EBE210C-AAF6-24C6-4183-FDD78C1DD82C}"/>
              </a:ext>
            </a:extLst>
          </p:cNvPr>
          <p:cNvSpPr/>
          <p:nvPr/>
        </p:nvSpPr>
        <p:spPr>
          <a:xfrm>
            <a:off x="5267325" y="3739222"/>
            <a:ext cx="600074" cy="156122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流程图: 可选过程 246">
            <a:extLst>
              <a:ext uri="{FF2B5EF4-FFF2-40B4-BE49-F238E27FC236}">
                <a16:creationId xmlns:a16="http://schemas.microsoft.com/office/drawing/2014/main" id="{70D69DC6-3834-24F0-776E-BE519EB3B071}"/>
              </a:ext>
            </a:extLst>
          </p:cNvPr>
          <p:cNvSpPr/>
          <p:nvPr/>
        </p:nvSpPr>
        <p:spPr>
          <a:xfrm>
            <a:off x="5268468" y="3446614"/>
            <a:ext cx="860298" cy="156122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9" name="流程图: 可选过程 248">
            <a:extLst>
              <a:ext uri="{FF2B5EF4-FFF2-40B4-BE49-F238E27FC236}">
                <a16:creationId xmlns:a16="http://schemas.microsoft.com/office/drawing/2014/main" id="{9B2A960A-AD6B-60AF-672F-41A1C302F508}"/>
              </a:ext>
            </a:extLst>
          </p:cNvPr>
          <p:cNvSpPr/>
          <p:nvPr/>
        </p:nvSpPr>
        <p:spPr>
          <a:xfrm>
            <a:off x="5268468" y="4014216"/>
            <a:ext cx="335280" cy="156122"/>
          </a:xfrm>
          <a:prstGeom prst="flowChartAlternateProcess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C5565A27-68BF-9A38-C305-0FE061A3736F}"/>
              </a:ext>
            </a:extLst>
          </p:cNvPr>
          <p:cNvSpPr/>
          <p:nvPr/>
        </p:nvSpPr>
        <p:spPr>
          <a:xfrm>
            <a:off x="3972305" y="3406482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7896E49C-052F-F8C9-1DCE-36F66A472127}"/>
              </a:ext>
            </a:extLst>
          </p:cNvPr>
          <p:cNvSpPr/>
          <p:nvPr/>
        </p:nvSpPr>
        <p:spPr>
          <a:xfrm>
            <a:off x="4068317" y="3406482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ED1CFB22-4972-1A9C-7D83-2E356B0A2575}"/>
              </a:ext>
            </a:extLst>
          </p:cNvPr>
          <p:cNvSpPr/>
          <p:nvPr/>
        </p:nvSpPr>
        <p:spPr>
          <a:xfrm>
            <a:off x="3972305" y="3491827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2743BC69-6199-9989-38B2-CBC69049A654}"/>
              </a:ext>
            </a:extLst>
          </p:cNvPr>
          <p:cNvSpPr/>
          <p:nvPr/>
        </p:nvSpPr>
        <p:spPr>
          <a:xfrm>
            <a:off x="4069841" y="3489794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30F661F5-83E8-6E50-0F95-7676A5342733}"/>
              </a:ext>
            </a:extLst>
          </p:cNvPr>
          <p:cNvSpPr/>
          <p:nvPr/>
        </p:nvSpPr>
        <p:spPr>
          <a:xfrm>
            <a:off x="4226814" y="3405378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319A0DB2-1C38-445B-6929-0FAF29FF21F4}"/>
              </a:ext>
            </a:extLst>
          </p:cNvPr>
          <p:cNvSpPr/>
          <p:nvPr/>
        </p:nvSpPr>
        <p:spPr>
          <a:xfrm>
            <a:off x="4322826" y="3405378"/>
            <a:ext cx="96012" cy="960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BE334D89-7CA4-F4F2-B15E-38D5B445038C}"/>
              </a:ext>
            </a:extLst>
          </p:cNvPr>
          <p:cNvSpPr/>
          <p:nvPr/>
        </p:nvSpPr>
        <p:spPr>
          <a:xfrm>
            <a:off x="4226814" y="3490723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527C0E93-26E5-178D-9BE9-EF076DA6A9E1}"/>
              </a:ext>
            </a:extLst>
          </p:cNvPr>
          <p:cNvSpPr/>
          <p:nvPr/>
        </p:nvSpPr>
        <p:spPr>
          <a:xfrm>
            <a:off x="4324350" y="3489960"/>
            <a:ext cx="96012" cy="9601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A6CF0E69-BE46-42EC-8412-E8CAF421CF0C}"/>
              </a:ext>
            </a:extLst>
          </p:cNvPr>
          <p:cNvSpPr/>
          <p:nvPr/>
        </p:nvSpPr>
        <p:spPr>
          <a:xfrm>
            <a:off x="4508754" y="3407100"/>
            <a:ext cx="96012" cy="96012"/>
          </a:xfrm>
          <a:prstGeom prst="rect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FCE57FB4-980E-5CAA-70C8-5D6EAA01D4B5}"/>
              </a:ext>
            </a:extLst>
          </p:cNvPr>
          <p:cNvSpPr/>
          <p:nvPr/>
        </p:nvSpPr>
        <p:spPr>
          <a:xfrm>
            <a:off x="4604766" y="3407100"/>
            <a:ext cx="96012" cy="96012"/>
          </a:xfrm>
          <a:prstGeom prst="rect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91B979B5-CB5C-DD3A-25CB-D7C3A64FAA0F}"/>
              </a:ext>
            </a:extLst>
          </p:cNvPr>
          <p:cNvSpPr/>
          <p:nvPr/>
        </p:nvSpPr>
        <p:spPr>
          <a:xfrm>
            <a:off x="4508754" y="3492445"/>
            <a:ext cx="96012" cy="96012"/>
          </a:xfrm>
          <a:prstGeom prst="rect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50FB9497-9B29-D978-EA8C-8369DEB6C8A3}"/>
              </a:ext>
            </a:extLst>
          </p:cNvPr>
          <p:cNvSpPr/>
          <p:nvPr/>
        </p:nvSpPr>
        <p:spPr>
          <a:xfrm>
            <a:off x="4606290" y="3491682"/>
            <a:ext cx="96012" cy="96012"/>
          </a:xfrm>
          <a:prstGeom prst="rect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7883E925-1B94-7141-C4F4-0E1C9F895854}"/>
              </a:ext>
            </a:extLst>
          </p:cNvPr>
          <p:cNvSpPr/>
          <p:nvPr/>
        </p:nvSpPr>
        <p:spPr>
          <a:xfrm>
            <a:off x="3972306" y="3678372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BD7287F-9CA6-473A-C5AC-6A9E22BCABB7}"/>
              </a:ext>
            </a:extLst>
          </p:cNvPr>
          <p:cNvSpPr/>
          <p:nvPr/>
        </p:nvSpPr>
        <p:spPr>
          <a:xfrm>
            <a:off x="4068318" y="3678372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67BBB0F4-4C9B-F889-6843-C771A4267E57}"/>
              </a:ext>
            </a:extLst>
          </p:cNvPr>
          <p:cNvSpPr/>
          <p:nvPr/>
        </p:nvSpPr>
        <p:spPr>
          <a:xfrm>
            <a:off x="3972306" y="3763717"/>
            <a:ext cx="96012" cy="960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C2E98849-04FC-0E1F-D3E0-345966859B3F}"/>
              </a:ext>
            </a:extLst>
          </p:cNvPr>
          <p:cNvSpPr/>
          <p:nvPr/>
        </p:nvSpPr>
        <p:spPr>
          <a:xfrm>
            <a:off x="4069842" y="3762954"/>
            <a:ext cx="96012" cy="960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AEACD6E9-574A-638E-3520-FBB6CBD50887}"/>
              </a:ext>
            </a:extLst>
          </p:cNvPr>
          <p:cNvSpPr/>
          <p:nvPr/>
        </p:nvSpPr>
        <p:spPr>
          <a:xfrm>
            <a:off x="4224527" y="3675125"/>
            <a:ext cx="96012" cy="960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2CD55427-74B8-5324-3FE4-222FA6A2F6BB}"/>
              </a:ext>
            </a:extLst>
          </p:cNvPr>
          <p:cNvSpPr/>
          <p:nvPr/>
        </p:nvSpPr>
        <p:spPr>
          <a:xfrm>
            <a:off x="4320539" y="3675125"/>
            <a:ext cx="96012" cy="960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C12C8EAA-FBE7-C578-CA20-22C0BF78BDC2}"/>
              </a:ext>
            </a:extLst>
          </p:cNvPr>
          <p:cNvSpPr/>
          <p:nvPr/>
        </p:nvSpPr>
        <p:spPr>
          <a:xfrm>
            <a:off x="4224527" y="3760470"/>
            <a:ext cx="96012" cy="960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7B8BBFE1-3A33-9704-479C-C320EAFC1D14}"/>
              </a:ext>
            </a:extLst>
          </p:cNvPr>
          <p:cNvSpPr/>
          <p:nvPr/>
        </p:nvSpPr>
        <p:spPr>
          <a:xfrm>
            <a:off x="4319523" y="3759707"/>
            <a:ext cx="96012" cy="960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CE2987F8-A0E3-6F67-C514-49818F9807B0}"/>
              </a:ext>
            </a:extLst>
          </p:cNvPr>
          <p:cNvSpPr/>
          <p:nvPr/>
        </p:nvSpPr>
        <p:spPr>
          <a:xfrm>
            <a:off x="4502658" y="3672840"/>
            <a:ext cx="96012" cy="96012"/>
          </a:xfrm>
          <a:prstGeom prst="rect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32C9C197-711B-71E4-E5CE-B35C2A85C9BF}"/>
              </a:ext>
            </a:extLst>
          </p:cNvPr>
          <p:cNvSpPr/>
          <p:nvPr/>
        </p:nvSpPr>
        <p:spPr>
          <a:xfrm>
            <a:off x="4598670" y="3672840"/>
            <a:ext cx="96012" cy="960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7C670FC6-4EB8-8121-0ABD-ED3F319CFF89}"/>
              </a:ext>
            </a:extLst>
          </p:cNvPr>
          <p:cNvSpPr/>
          <p:nvPr/>
        </p:nvSpPr>
        <p:spPr>
          <a:xfrm>
            <a:off x="4502658" y="3758185"/>
            <a:ext cx="96012" cy="96012"/>
          </a:xfrm>
          <a:prstGeom prst="rect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矩形 320">
            <a:extLst>
              <a:ext uri="{FF2B5EF4-FFF2-40B4-BE49-F238E27FC236}">
                <a16:creationId xmlns:a16="http://schemas.microsoft.com/office/drawing/2014/main" id="{251ADBCB-F962-F0AC-806C-2758CF93FBBF}"/>
              </a:ext>
            </a:extLst>
          </p:cNvPr>
          <p:cNvSpPr/>
          <p:nvPr/>
        </p:nvSpPr>
        <p:spPr>
          <a:xfrm>
            <a:off x="4600194" y="3761232"/>
            <a:ext cx="96012" cy="9601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文本框 321">
            <a:extLst>
              <a:ext uri="{FF2B5EF4-FFF2-40B4-BE49-F238E27FC236}">
                <a16:creationId xmlns:a16="http://schemas.microsoft.com/office/drawing/2014/main" id="{95871308-B3F5-BF78-390D-15BF83DD3365}"/>
              </a:ext>
            </a:extLst>
          </p:cNvPr>
          <p:cNvSpPr txBox="1"/>
          <p:nvPr/>
        </p:nvSpPr>
        <p:spPr>
          <a:xfrm>
            <a:off x="4161853" y="3884784"/>
            <a:ext cx="364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…</a:t>
            </a:r>
            <a:endParaRPr lang="zh-CN" altLang="en-US" sz="2400"/>
          </a:p>
        </p:txBody>
      </p:sp>
      <p:sp>
        <p:nvSpPr>
          <p:cNvPr id="323" name="流程图: 可选过程 322">
            <a:extLst>
              <a:ext uri="{FF2B5EF4-FFF2-40B4-BE49-F238E27FC236}">
                <a16:creationId xmlns:a16="http://schemas.microsoft.com/office/drawing/2014/main" id="{BB8CF946-988D-44C8-2DF0-1BC4EE03B17A}"/>
              </a:ext>
            </a:extLst>
          </p:cNvPr>
          <p:cNvSpPr/>
          <p:nvPr/>
        </p:nvSpPr>
        <p:spPr>
          <a:xfrm>
            <a:off x="7882890" y="3505200"/>
            <a:ext cx="914400" cy="28041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流程图: 可选过程 323">
            <a:extLst>
              <a:ext uri="{FF2B5EF4-FFF2-40B4-BE49-F238E27FC236}">
                <a16:creationId xmlns:a16="http://schemas.microsoft.com/office/drawing/2014/main" id="{B38D45E8-92A3-DA90-2998-8D3BF00C96AB}"/>
              </a:ext>
            </a:extLst>
          </p:cNvPr>
          <p:cNvSpPr/>
          <p:nvPr/>
        </p:nvSpPr>
        <p:spPr>
          <a:xfrm>
            <a:off x="8149590" y="3511297"/>
            <a:ext cx="401472" cy="270509"/>
          </a:xfrm>
          <a:prstGeom prst="flowChartAlternateProcess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6" name="直接连接符 325">
            <a:extLst>
              <a:ext uri="{FF2B5EF4-FFF2-40B4-BE49-F238E27FC236}">
                <a16:creationId xmlns:a16="http://schemas.microsoft.com/office/drawing/2014/main" id="{96C67FBB-CF28-DE98-891C-DA2C5597BF0F}"/>
              </a:ext>
            </a:extLst>
          </p:cNvPr>
          <p:cNvCxnSpPr>
            <a:cxnSpLocks/>
          </p:cNvCxnSpPr>
          <p:nvPr/>
        </p:nvCxnSpPr>
        <p:spPr>
          <a:xfrm>
            <a:off x="7890510" y="3787140"/>
            <a:ext cx="0" cy="57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>
            <a:extLst>
              <a:ext uri="{FF2B5EF4-FFF2-40B4-BE49-F238E27FC236}">
                <a16:creationId xmlns:a16="http://schemas.microsoft.com/office/drawing/2014/main" id="{524C2715-A778-21DB-4BD7-BE48AA42A25C}"/>
              </a:ext>
            </a:extLst>
          </p:cNvPr>
          <p:cNvCxnSpPr>
            <a:cxnSpLocks/>
          </p:cNvCxnSpPr>
          <p:nvPr/>
        </p:nvCxnSpPr>
        <p:spPr>
          <a:xfrm>
            <a:off x="8168640" y="3787140"/>
            <a:ext cx="0" cy="57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>
            <a:extLst>
              <a:ext uri="{FF2B5EF4-FFF2-40B4-BE49-F238E27FC236}">
                <a16:creationId xmlns:a16="http://schemas.microsoft.com/office/drawing/2014/main" id="{54F0F4C3-B801-1C89-98FB-30FD6BF8022A}"/>
              </a:ext>
            </a:extLst>
          </p:cNvPr>
          <p:cNvCxnSpPr>
            <a:cxnSpLocks/>
          </p:cNvCxnSpPr>
          <p:nvPr/>
        </p:nvCxnSpPr>
        <p:spPr>
          <a:xfrm>
            <a:off x="8549640" y="3787140"/>
            <a:ext cx="0" cy="57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>
            <a:extLst>
              <a:ext uri="{FF2B5EF4-FFF2-40B4-BE49-F238E27FC236}">
                <a16:creationId xmlns:a16="http://schemas.microsoft.com/office/drawing/2014/main" id="{338BDCFB-3DE2-A006-9762-39BC1A5D9568}"/>
              </a:ext>
            </a:extLst>
          </p:cNvPr>
          <p:cNvCxnSpPr>
            <a:cxnSpLocks/>
          </p:cNvCxnSpPr>
          <p:nvPr/>
        </p:nvCxnSpPr>
        <p:spPr>
          <a:xfrm>
            <a:off x="8804910" y="3787140"/>
            <a:ext cx="0" cy="57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文本框 333">
            <a:extLst>
              <a:ext uri="{FF2B5EF4-FFF2-40B4-BE49-F238E27FC236}">
                <a16:creationId xmlns:a16="http://schemas.microsoft.com/office/drawing/2014/main" id="{DC534CE8-61C0-E99E-E9D4-7FDE9EBD8EAC}"/>
              </a:ext>
            </a:extLst>
          </p:cNvPr>
          <p:cNvSpPr txBox="1"/>
          <p:nvPr/>
        </p:nvSpPr>
        <p:spPr>
          <a:xfrm>
            <a:off x="7739634" y="3794535"/>
            <a:ext cx="3002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/>
              <a:t>0S</a:t>
            </a:r>
          </a:p>
          <a:p>
            <a:endParaRPr lang="zh-CN" altLang="en-US" sz="800"/>
          </a:p>
        </p:txBody>
      </p:sp>
      <p:sp>
        <p:nvSpPr>
          <p:cNvPr id="335" name="文本框 334">
            <a:extLst>
              <a:ext uri="{FF2B5EF4-FFF2-40B4-BE49-F238E27FC236}">
                <a16:creationId xmlns:a16="http://schemas.microsoft.com/office/drawing/2014/main" id="{FFE17682-C392-3F47-5057-88E7DC5397C8}"/>
              </a:ext>
            </a:extLst>
          </p:cNvPr>
          <p:cNvSpPr txBox="1"/>
          <p:nvPr/>
        </p:nvSpPr>
        <p:spPr>
          <a:xfrm>
            <a:off x="8040622" y="3794535"/>
            <a:ext cx="402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/>
              <a:t>10S</a:t>
            </a:r>
          </a:p>
          <a:p>
            <a:endParaRPr lang="zh-CN" altLang="en-US" sz="800"/>
          </a:p>
        </p:txBody>
      </p:sp>
      <p:sp>
        <p:nvSpPr>
          <p:cNvPr id="336" name="文本框 335">
            <a:extLst>
              <a:ext uri="{FF2B5EF4-FFF2-40B4-BE49-F238E27FC236}">
                <a16:creationId xmlns:a16="http://schemas.microsoft.com/office/drawing/2014/main" id="{AC29720F-D88B-6E2F-787A-AF189148B7C2}"/>
              </a:ext>
            </a:extLst>
          </p:cNvPr>
          <p:cNvSpPr txBox="1"/>
          <p:nvPr/>
        </p:nvSpPr>
        <p:spPr>
          <a:xfrm>
            <a:off x="8583168" y="3794535"/>
            <a:ext cx="3596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/>
              <a:t>30S</a:t>
            </a:r>
          </a:p>
          <a:p>
            <a:endParaRPr lang="zh-CN" altLang="en-US" sz="800"/>
          </a:p>
        </p:txBody>
      </p:sp>
      <p:sp>
        <p:nvSpPr>
          <p:cNvPr id="337" name="文本框 336">
            <a:extLst>
              <a:ext uri="{FF2B5EF4-FFF2-40B4-BE49-F238E27FC236}">
                <a16:creationId xmlns:a16="http://schemas.microsoft.com/office/drawing/2014/main" id="{0CAC5A81-43CF-44EC-F491-6B2FA16B91DD}"/>
              </a:ext>
            </a:extLst>
          </p:cNvPr>
          <p:cNvSpPr txBox="1"/>
          <p:nvPr/>
        </p:nvSpPr>
        <p:spPr>
          <a:xfrm>
            <a:off x="8415526" y="3794535"/>
            <a:ext cx="3589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/>
              <a:t>20S</a:t>
            </a:r>
          </a:p>
          <a:p>
            <a:endParaRPr lang="zh-CN" altLang="en-US" sz="800"/>
          </a:p>
        </p:txBody>
      </p:sp>
      <p:sp>
        <p:nvSpPr>
          <p:cNvPr id="338" name="流程图: 可选过程 337">
            <a:extLst>
              <a:ext uri="{FF2B5EF4-FFF2-40B4-BE49-F238E27FC236}">
                <a16:creationId xmlns:a16="http://schemas.microsoft.com/office/drawing/2014/main" id="{74184565-51DE-14EC-B075-7A3670774DE0}"/>
              </a:ext>
            </a:extLst>
          </p:cNvPr>
          <p:cNvSpPr/>
          <p:nvPr/>
        </p:nvSpPr>
        <p:spPr>
          <a:xfrm>
            <a:off x="4014215" y="4806065"/>
            <a:ext cx="4613150" cy="543174"/>
          </a:xfrm>
          <a:prstGeom prst="flowChartAlternateProcess">
            <a:avLst/>
          </a:prstGeom>
          <a:solidFill>
            <a:srgbClr val="DCEED8"/>
          </a:solidFill>
          <a:ln>
            <a:solidFill>
              <a:srgbClr val="79A86B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7FAE84"/>
                </a:solidFill>
              </a:ln>
              <a:solidFill>
                <a:srgbClr val="DCEED1"/>
              </a:solidFill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4032504" y="4973249"/>
            <a:ext cx="4654296" cy="224677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err="1">
                <a:solidFill>
                  <a:srgbClr val="286044"/>
                </a:solidFill>
                <a:latin typeface="Microsoft YaHei"/>
              </a:rPr>
              <a:t>主导模态</a:t>
            </a:r>
            <a:r>
              <a:rPr sz="1400" b="1">
                <a:solidFill>
                  <a:srgbClr val="286044"/>
                </a:solidFill>
                <a:latin typeface="Microsoft YaHei"/>
              </a:rPr>
              <a:t>  ·  </a:t>
            </a:r>
            <a:r>
              <a:rPr sz="1400" b="1" err="1">
                <a:solidFill>
                  <a:srgbClr val="286044"/>
                </a:solidFill>
                <a:latin typeface="Microsoft YaHei"/>
              </a:rPr>
              <a:t>模态交互</a:t>
            </a:r>
            <a:r>
              <a:rPr sz="1400" b="1">
                <a:solidFill>
                  <a:srgbClr val="286044"/>
                </a:solidFill>
                <a:latin typeface="Microsoft YaHei"/>
              </a:rPr>
              <a:t>  ·  </a:t>
            </a:r>
            <a:r>
              <a:rPr sz="1400" b="1" err="1">
                <a:solidFill>
                  <a:srgbClr val="286044"/>
                </a:solidFill>
                <a:latin typeface="Microsoft YaHei"/>
              </a:rPr>
              <a:t>关键特征区间</a:t>
            </a:r>
            <a:endParaRPr sz="1400" b="1">
              <a:solidFill>
                <a:srgbClr val="286044"/>
              </a:solidFill>
              <a:latin typeface="Microsoft YaHei"/>
            </a:endParaRPr>
          </a:p>
        </p:txBody>
      </p:sp>
      <p:sp>
        <p:nvSpPr>
          <p:cNvPr id="339" name="流程图: 可选过程 338">
            <a:extLst>
              <a:ext uri="{FF2B5EF4-FFF2-40B4-BE49-F238E27FC236}">
                <a16:creationId xmlns:a16="http://schemas.microsoft.com/office/drawing/2014/main" id="{1E7E37C7-813C-B18A-01F9-CEB68D986B79}"/>
              </a:ext>
            </a:extLst>
          </p:cNvPr>
          <p:cNvSpPr/>
          <p:nvPr/>
        </p:nvSpPr>
        <p:spPr>
          <a:xfrm>
            <a:off x="4974335" y="5492496"/>
            <a:ext cx="2907792" cy="255454"/>
          </a:xfrm>
          <a:prstGeom prst="flowChartAlternateProcess">
            <a:avLst/>
          </a:prstGeom>
          <a:solidFill>
            <a:srgbClr val="E9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TextBox 175"/>
          <p:cNvSpPr txBox="1"/>
          <p:nvPr/>
        </p:nvSpPr>
        <p:spPr>
          <a:xfrm>
            <a:off x="4114800" y="5550329"/>
            <a:ext cx="4507992" cy="173894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0" err="1">
                <a:solidFill>
                  <a:srgbClr val="6B6285"/>
                </a:solidFill>
                <a:latin typeface="Microsoft YaHei"/>
              </a:rPr>
              <a:t>精确归因</a:t>
            </a:r>
            <a:r>
              <a:rPr sz="1070" b="0">
                <a:solidFill>
                  <a:srgbClr val="6B6285"/>
                </a:solidFill>
                <a:latin typeface="Microsoft YaHei"/>
              </a:rPr>
              <a:t>  →  </a:t>
            </a:r>
            <a:r>
              <a:rPr sz="1070" b="0" err="1">
                <a:solidFill>
                  <a:srgbClr val="6B6285"/>
                </a:solidFill>
                <a:latin typeface="Microsoft YaHei"/>
              </a:rPr>
              <a:t>局部遮挡</a:t>
            </a:r>
            <a:r>
              <a:rPr sz="1070" b="0">
                <a:solidFill>
                  <a:srgbClr val="6B6285"/>
                </a:solidFill>
                <a:latin typeface="Microsoft YaHei"/>
              </a:rPr>
              <a:t>  →  </a:t>
            </a:r>
            <a:r>
              <a:rPr sz="1070" b="0" err="1">
                <a:solidFill>
                  <a:srgbClr val="6B6285"/>
                </a:solidFill>
                <a:latin typeface="Microsoft YaHei"/>
              </a:rPr>
              <a:t>删除对照</a:t>
            </a:r>
            <a:endParaRPr sz="1070" b="0">
              <a:solidFill>
                <a:srgbClr val="6B6285"/>
              </a:solidFill>
              <a:latin typeface="Microsoft YaHei"/>
            </a:endParaRPr>
          </a:p>
        </p:txBody>
      </p:sp>
      <p:sp>
        <p:nvSpPr>
          <p:cNvPr id="340" name="流程图: 可选过程 339">
            <a:extLst>
              <a:ext uri="{FF2B5EF4-FFF2-40B4-BE49-F238E27FC236}">
                <a16:creationId xmlns:a16="http://schemas.microsoft.com/office/drawing/2014/main" id="{5D4F3810-63A4-49D2-68A6-37EC86C8CA1F}"/>
              </a:ext>
            </a:extLst>
          </p:cNvPr>
          <p:cNvSpPr/>
          <p:nvPr/>
        </p:nvSpPr>
        <p:spPr>
          <a:xfrm>
            <a:off x="2221992" y="4507991"/>
            <a:ext cx="1024128" cy="1257809"/>
          </a:xfrm>
          <a:prstGeom prst="flowChartAlternateProcess">
            <a:avLst/>
          </a:prstGeom>
          <a:solidFill>
            <a:srgbClr val="FBE1E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TextBox 100">
            <a:extLst>
              <a:ext uri="{FF2B5EF4-FFF2-40B4-BE49-F238E27FC236}">
                <a16:creationId xmlns:a16="http://schemas.microsoft.com/office/drawing/2014/main" id="{B5712F1E-A7BD-1A14-0AA7-15E1B88CA8B3}"/>
              </a:ext>
            </a:extLst>
          </p:cNvPr>
          <p:cNvSpPr txBox="1"/>
          <p:nvPr/>
        </p:nvSpPr>
        <p:spPr>
          <a:xfrm>
            <a:off x="2263138" y="4645152"/>
            <a:ext cx="937262" cy="424732"/>
          </a:xfrm>
          <a:prstGeom prst="rect">
            <a:avLst/>
          </a:prstGeom>
          <a:solidFill>
            <a:srgbClr val="FBE1E6"/>
          </a:solidFill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r>
              <a:rPr sz="1350" b="1" err="1">
                <a:solidFill>
                  <a:srgbClr val="343A40"/>
                </a:solidFill>
                <a:latin typeface="Microsoft YaHei"/>
              </a:rPr>
              <a:t>特征</a:t>
            </a:r>
            <a:endParaRPr sz="1350" b="1">
              <a:solidFill>
                <a:srgbClr val="343A40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50 × </a:t>
            </a:r>
            <a:r>
              <a:rPr lang="en-US" sz="1350" b="1">
                <a:solidFill>
                  <a:srgbClr val="343A40"/>
                </a:solidFill>
                <a:latin typeface="Microsoft YaHei"/>
              </a:rPr>
              <a:t>35</a:t>
            </a:r>
            <a:endParaRPr sz="1350" b="1">
              <a:solidFill>
                <a:srgbClr val="343A40"/>
              </a:solidFill>
              <a:latin typeface="Microsoft YaHei"/>
            </a:endParaRPr>
          </a:p>
        </p:txBody>
      </p:sp>
      <p:sp>
        <p:nvSpPr>
          <p:cNvPr id="344" name="流程图: 可选过程 343">
            <a:extLst>
              <a:ext uri="{FF2B5EF4-FFF2-40B4-BE49-F238E27FC236}">
                <a16:creationId xmlns:a16="http://schemas.microsoft.com/office/drawing/2014/main" id="{5D9387F1-4601-09DC-4D9E-E175F7768F6C}"/>
              </a:ext>
            </a:extLst>
          </p:cNvPr>
          <p:cNvSpPr/>
          <p:nvPr/>
        </p:nvSpPr>
        <p:spPr>
          <a:xfrm>
            <a:off x="2316480" y="5186680"/>
            <a:ext cx="121920" cy="228597"/>
          </a:xfrm>
          <a:prstGeom prst="flowChartAlternateProcess">
            <a:avLst/>
          </a:prstGeom>
          <a:solidFill>
            <a:srgbClr val="D96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5" name="流程图: 可选过程 344">
            <a:extLst>
              <a:ext uri="{FF2B5EF4-FFF2-40B4-BE49-F238E27FC236}">
                <a16:creationId xmlns:a16="http://schemas.microsoft.com/office/drawing/2014/main" id="{23783EEE-BAA3-7A68-504E-8028D9E09197}"/>
              </a:ext>
            </a:extLst>
          </p:cNvPr>
          <p:cNvSpPr/>
          <p:nvPr/>
        </p:nvSpPr>
        <p:spPr>
          <a:xfrm>
            <a:off x="2560828" y="5186680"/>
            <a:ext cx="121920" cy="228597"/>
          </a:xfrm>
          <a:prstGeom prst="flowChartAlternateProcess">
            <a:avLst/>
          </a:prstGeom>
          <a:solidFill>
            <a:srgbClr val="D96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流程图: 可选过程 345">
            <a:extLst>
              <a:ext uri="{FF2B5EF4-FFF2-40B4-BE49-F238E27FC236}">
                <a16:creationId xmlns:a16="http://schemas.microsoft.com/office/drawing/2014/main" id="{81D8C2F3-4CA4-88BA-C695-A4D016A22528}"/>
              </a:ext>
            </a:extLst>
          </p:cNvPr>
          <p:cNvSpPr/>
          <p:nvPr/>
        </p:nvSpPr>
        <p:spPr>
          <a:xfrm>
            <a:off x="2805176" y="5186680"/>
            <a:ext cx="121920" cy="228597"/>
          </a:xfrm>
          <a:prstGeom prst="flowChartAlternateProcess">
            <a:avLst/>
          </a:prstGeom>
          <a:solidFill>
            <a:srgbClr val="D96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8" name="文本框 347">
            <a:extLst>
              <a:ext uri="{FF2B5EF4-FFF2-40B4-BE49-F238E27FC236}">
                <a16:creationId xmlns:a16="http://schemas.microsoft.com/office/drawing/2014/main" id="{27D52BBE-1410-D6F7-67BD-94ED07E00F32}"/>
              </a:ext>
            </a:extLst>
          </p:cNvPr>
          <p:cNvSpPr txBox="1"/>
          <p:nvPr/>
        </p:nvSpPr>
        <p:spPr>
          <a:xfrm>
            <a:off x="2521838" y="5376578"/>
            <a:ext cx="364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…</a:t>
            </a:r>
            <a:endParaRPr lang="zh-CN" altLang="en-US" sz="2400"/>
          </a:p>
        </p:txBody>
      </p:sp>
      <p:sp>
        <p:nvSpPr>
          <p:cNvPr id="349" name="流程图: 可选过程 348">
            <a:extLst>
              <a:ext uri="{FF2B5EF4-FFF2-40B4-BE49-F238E27FC236}">
                <a16:creationId xmlns:a16="http://schemas.microsoft.com/office/drawing/2014/main" id="{35E2AAF0-ECD7-0982-BA1E-DC19BCA975D6}"/>
              </a:ext>
            </a:extLst>
          </p:cNvPr>
          <p:cNvSpPr/>
          <p:nvPr/>
        </p:nvSpPr>
        <p:spPr>
          <a:xfrm>
            <a:off x="2221992" y="2761488"/>
            <a:ext cx="1024128" cy="1257809"/>
          </a:xfrm>
          <a:prstGeom prst="flowChartAlternateProcess">
            <a:avLst/>
          </a:prstGeom>
          <a:solidFill>
            <a:srgbClr val="FFF1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0" name="TextBox 100">
            <a:extLst>
              <a:ext uri="{FF2B5EF4-FFF2-40B4-BE49-F238E27FC236}">
                <a16:creationId xmlns:a16="http://schemas.microsoft.com/office/drawing/2014/main" id="{8FC32F0E-7433-4411-52D2-EE72B2BECC1F}"/>
              </a:ext>
            </a:extLst>
          </p:cNvPr>
          <p:cNvSpPr txBox="1"/>
          <p:nvPr/>
        </p:nvSpPr>
        <p:spPr>
          <a:xfrm>
            <a:off x="2263138" y="2898649"/>
            <a:ext cx="937262" cy="424732"/>
          </a:xfrm>
          <a:prstGeom prst="rect">
            <a:avLst/>
          </a:prstGeom>
          <a:solidFill>
            <a:srgbClr val="FFF1B8"/>
          </a:solidFill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视觉</a:t>
            </a:r>
            <a:r>
              <a:rPr sz="1350" b="1" err="1">
                <a:solidFill>
                  <a:srgbClr val="343A40"/>
                </a:solidFill>
                <a:latin typeface="Microsoft YaHei"/>
              </a:rPr>
              <a:t>特征</a:t>
            </a:r>
            <a:endParaRPr sz="1350" b="1">
              <a:solidFill>
                <a:srgbClr val="343A40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50 × 74</a:t>
            </a:r>
          </a:p>
        </p:txBody>
      </p:sp>
      <p:sp>
        <p:nvSpPr>
          <p:cNvPr id="354" name="文本框 353">
            <a:extLst>
              <a:ext uri="{FF2B5EF4-FFF2-40B4-BE49-F238E27FC236}">
                <a16:creationId xmlns:a16="http://schemas.microsoft.com/office/drawing/2014/main" id="{A0C4AA64-FE6F-7FAB-5313-7F2210481869}"/>
              </a:ext>
            </a:extLst>
          </p:cNvPr>
          <p:cNvSpPr txBox="1"/>
          <p:nvPr/>
        </p:nvSpPr>
        <p:spPr>
          <a:xfrm>
            <a:off x="2521838" y="3630075"/>
            <a:ext cx="364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…</a:t>
            </a:r>
            <a:endParaRPr lang="zh-CN" altLang="en-US" sz="2400"/>
          </a:p>
        </p:txBody>
      </p:sp>
      <p:sp>
        <p:nvSpPr>
          <p:cNvPr id="355" name="流程图: 可选过程 354">
            <a:extLst>
              <a:ext uri="{FF2B5EF4-FFF2-40B4-BE49-F238E27FC236}">
                <a16:creationId xmlns:a16="http://schemas.microsoft.com/office/drawing/2014/main" id="{99B91E40-9A1C-8685-A654-4BB6469B8B9F}"/>
              </a:ext>
            </a:extLst>
          </p:cNvPr>
          <p:cNvSpPr/>
          <p:nvPr/>
        </p:nvSpPr>
        <p:spPr>
          <a:xfrm>
            <a:off x="3049524" y="5186680"/>
            <a:ext cx="121920" cy="228597"/>
          </a:xfrm>
          <a:prstGeom prst="flowChartAlternateProcess">
            <a:avLst/>
          </a:prstGeom>
          <a:solidFill>
            <a:srgbClr val="D96C7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流程图: 可选过程 355">
            <a:extLst>
              <a:ext uri="{FF2B5EF4-FFF2-40B4-BE49-F238E27FC236}">
                <a16:creationId xmlns:a16="http://schemas.microsoft.com/office/drawing/2014/main" id="{2787718B-EB61-594D-39FC-4D8F8F93F901}"/>
              </a:ext>
            </a:extLst>
          </p:cNvPr>
          <p:cNvSpPr/>
          <p:nvPr/>
        </p:nvSpPr>
        <p:spPr>
          <a:xfrm>
            <a:off x="2316480" y="3429000"/>
            <a:ext cx="121920" cy="228597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流程图: 可选过程 356">
            <a:extLst>
              <a:ext uri="{FF2B5EF4-FFF2-40B4-BE49-F238E27FC236}">
                <a16:creationId xmlns:a16="http://schemas.microsoft.com/office/drawing/2014/main" id="{DF009EC5-8503-DC3F-6E2D-6665484638F6}"/>
              </a:ext>
            </a:extLst>
          </p:cNvPr>
          <p:cNvSpPr/>
          <p:nvPr/>
        </p:nvSpPr>
        <p:spPr>
          <a:xfrm>
            <a:off x="2560828" y="3429000"/>
            <a:ext cx="121920" cy="228597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流程图: 可选过程 357">
            <a:extLst>
              <a:ext uri="{FF2B5EF4-FFF2-40B4-BE49-F238E27FC236}">
                <a16:creationId xmlns:a16="http://schemas.microsoft.com/office/drawing/2014/main" id="{E206E5FC-1FAF-50FC-1555-3286C5D7BFB9}"/>
              </a:ext>
            </a:extLst>
          </p:cNvPr>
          <p:cNvSpPr/>
          <p:nvPr/>
        </p:nvSpPr>
        <p:spPr>
          <a:xfrm>
            <a:off x="2805176" y="3429000"/>
            <a:ext cx="121920" cy="228597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9" name="流程图: 可选过程 358">
            <a:extLst>
              <a:ext uri="{FF2B5EF4-FFF2-40B4-BE49-F238E27FC236}">
                <a16:creationId xmlns:a16="http://schemas.microsoft.com/office/drawing/2014/main" id="{63630B82-0EE2-A1AD-66D3-B5F9E5C9A223}"/>
              </a:ext>
            </a:extLst>
          </p:cNvPr>
          <p:cNvSpPr/>
          <p:nvPr/>
        </p:nvSpPr>
        <p:spPr>
          <a:xfrm>
            <a:off x="3049524" y="3429000"/>
            <a:ext cx="121920" cy="228597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流程图: 可选过程 359">
            <a:extLst>
              <a:ext uri="{FF2B5EF4-FFF2-40B4-BE49-F238E27FC236}">
                <a16:creationId xmlns:a16="http://schemas.microsoft.com/office/drawing/2014/main" id="{C78E452F-F936-456A-D54E-236234515EB2}"/>
              </a:ext>
            </a:extLst>
          </p:cNvPr>
          <p:cNvSpPr/>
          <p:nvPr/>
        </p:nvSpPr>
        <p:spPr>
          <a:xfrm>
            <a:off x="2221992" y="1190751"/>
            <a:ext cx="1024128" cy="1257809"/>
          </a:xfrm>
          <a:prstGeom prst="flowChartAlternateProcess">
            <a:avLst/>
          </a:prstGeom>
          <a:solidFill>
            <a:srgbClr val="DCEEF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1" name="TextBox 100">
            <a:extLst>
              <a:ext uri="{FF2B5EF4-FFF2-40B4-BE49-F238E27FC236}">
                <a16:creationId xmlns:a16="http://schemas.microsoft.com/office/drawing/2014/main" id="{4AFE7576-E0A4-1D6D-85F9-E82D69AA15A3}"/>
              </a:ext>
            </a:extLst>
          </p:cNvPr>
          <p:cNvSpPr txBox="1"/>
          <p:nvPr/>
        </p:nvSpPr>
        <p:spPr>
          <a:xfrm>
            <a:off x="2263138" y="1327912"/>
            <a:ext cx="937262" cy="424732"/>
          </a:xfrm>
          <a:prstGeom prst="rect">
            <a:avLst/>
          </a:prstGeom>
          <a:solidFill>
            <a:srgbClr val="DCEEF9"/>
          </a:solidFill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1350" b="1">
                <a:solidFill>
                  <a:srgbClr val="343A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</a:t>
            </a:r>
            <a:r>
              <a:rPr sz="1350" b="1" err="1">
                <a:solidFill>
                  <a:srgbClr val="343A40"/>
                </a:solidFill>
                <a:latin typeface="Microsoft YaHei"/>
              </a:rPr>
              <a:t>特征</a:t>
            </a:r>
            <a:endParaRPr sz="1350" b="1">
              <a:solidFill>
                <a:srgbClr val="343A40"/>
              </a:solidFill>
              <a:latin typeface="Microsoft YaHe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50 × 7</a:t>
            </a:r>
            <a:r>
              <a:rPr lang="en-US" sz="1350" b="1">
                <a:solidFill>
                  <a:srgbClr val="343A40"/>
                </a:solidFill>
                <a:latin typeface="Microsoft YaHei"/>
              </a:rPr>
              <a:t>68</a:t>
            </a:r>
            <a:endParaRPr sz="1350" b="1">
              <a:solidFill>
                <a:srgbClr val="343A40"/>
              </a:solidFill>
              <a:latin typeface="Microsoft YaHei"/>
            </a:endParaRPr>
          </a:p>
        </p:txBody>
      </p:sp>
      <p:sp>
        <p:nvSpPr>
          <p:cNvPr id="362" name="流程图: 可选过程 361">
            <a:extLst>
              <a:ext uri="{FF2B5EF4-FFF2-40B4-BE49-F238E27FC236}">
                <a16:creationId xmlns:a16="http://schemas.microsoft.com/office/drawing/2014/main" id="{9075B746-BBA3-614D-4F95-24CAF716A6C7}"/>
              </a:ext>
            </a:extLst>
          </p:cNvPr>
          <p:cNvSpPr/>
          <p:nvPr/>
        </p:nvSpPr>
        <p:spPr>
          <a:xfrm>
            <a:off x="2316480" y="1858263"/>
            <a:ext cx="121920" cy="228597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3" name="流程图: 可选过程 362">
            <a:extLst>
              <a:ext uri="{FF2B5EF4-FFF2-40B4-BE49-F238E27FC236}">
                <a16:creationId xmlns:a16="http://schemas.microsoft.com/office/drawing/2014/main" id="{55FE49CE-734A-009F-EE8E-44FE8A4F7B90}"/>
              </a:ext>
            </a:extLst>
          </p:cNvPr>
          <p:cNvSpPr/>
          <p:nvPr/>
        </p:nvSpPr>
        <p:spPr>
          <a:xfrm>
            <a:off x="2560828" y="1858263"/>
            <a:ext cx="121920" cy="228597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4" name="流程图: 可选过程 363">
            <a:extLst>
              <a:ext uri="{FF2B5EF4-FFF2-40B4-BE49-F238E27FC236}">
                <a16:creationId xmlns:a16="http://schemas.microsoft.com/office/drawing/2014/main" id="{43A68C47-BA45-AE52-C41E-B84C5E9B2ABD}"/>
              </a:ext>
            </a:extLst>
          </p:cNvPr>
          <p:cNvSpPr/>
          <p:nvPr/>
        </p:nvSpPr>
        <p:spPr>
          <a:xfrm>
            <a:off x="2805176" y="1858263"/>
            <a:ext cx="121920" cy="228597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5" name="流程图: 可选过程 364">
            <a:extLst>
              <a:ext uri="{FF2B5EF4-FFF2-40B4-BE49-F238E27FC236}">
                <a16:creationId xmlns:a16="http://schemas.microsoft.com/office/drawing/2014/main" id="{A6FEB6E3-1617-4AA2-6801-0568919B212D}"/>
              </a:ext>
            </a:extLst>
          </p:cNvPr>
          <p:cNvSpPr/>
          <p:nvPr/>
        </p:nvSpPr>
        <p:spPr>
          <a:xfrm>
            <a:off x="3049524" y="1858263"/>
            <a:ext cx="121920" cy="228597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" name="文本框 365">
            <a:extLst>
              <a:ext uri="{FF2B5EF4-FFF2-40B4-BE49-F238E27FC236}">
                <a16:creationId xmlns:a16="http://schemas.microsoft.com/office/drawing/2014/main" id="{E9D51E40-A1A6-B20B-7B18-971BD9600476}"/>
              </a:ext>
            </a:extLst>
          </p:cNvPr>
          <p:cNvSpPr txBox="1"/>
          <p:nvPr/>
        </p:nvSpPr>
        <p:spPr>
          <a:xfrm>
            <a:off x="2521838" y="2061464"/>
            <a:ext cx="364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…</a:t>
            </a:r>
            <a:endParaRPr lang="zh-CN" altLang="en-US" sz="2400"/>
          </a:p>
        </p:txBody>
      </p:sp>
      <p:pic>
        <p:nvPicPr>
          <p:cNvPr id="374" name="图片 373">
            <a:extLst>
              <a:ext uri="{FF2B5EF4-FFF2-40B4-BE49-F238E27FC236}">
                <a16:creationId xmlns:a16="http://schemas.microsoft.com/office/drawing/2014/main" id="{5D529F1E-7994-F526-78F8-D3BF57208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344" y="4718685"/>
            <a:ext cx="550848" cy="776478"/>
          </a:xfrm>
          <a:prstGeom prst="rect">
            <a:avLst/>
          </a:prstGeom>
        </p:spPr>
      </p:pic>
      <p:pic>
        <p:nvPicPr>
          <p:cNvPr id="376" name="图片 375">
            <a:extLst>
              <a:ext uri="{FF2B5EF4-FFF2-40B4-BE49-F238E27FC236}">
                <a16:creationId xmlns:a16="http://schemas.microsoft.com/office/drawing/2014/main" id="{4DC89325-88C5-4565-D236-ED39D11203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05" y="4719627"/>
            <a:ext cx="621792" cy="775320"/>
          </a:xfrm>
          <a:prstGeom prst="rect">
            <a:avLst/>
          </a:prstGeom>
        </p:spPr>
      </p:pic>
      <p:pic>
        <p:nvPicPr>
          <p:cNvPr id="378" name="图片 377">
            <a:extLst>
              <a:ext uri="{FF2B5EF4-FFF2-40B4-BE49-F238E27FC236}">
                <a16:creationId xmlns:a16="http://schemas.microsoft.com/office/drawing/2014/main" id="{1F67EDFD-EB90-AE88-7BFA-ED1A6DF653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349" y="4717922"/>
            <a:ext cx="655686" cy="774190"/>
          </a:xfrm>
          <a:prstGeom prst="rect">
            <a:avLst/>
          </a:prstGeom>
        </p:spPr>
      </p:pic>
      <p:sp>
        <p:nvSpPr>
          <p:cNvPr id="380" name="流程图: 可选过程 379">
            <a:extLst>
              <a:ext uri="{FF2B5EF4-FFF2-40B4-BE49-F238E27FC236}">
                <a16:creationId xmlns:a16="http://schemas.microsoft.com/office/drawing/2014/main" id="{545C4637-B10E-4DD5-9D4F-FED0B1A63143}"/>
              </a:ext>
            </a:extLst>
          </p:cNvPr>
          <p:cNvSpPr/>
          <p:nvPr/>
        </p:nvSpPr>
        <p:spPr>
          <a:xfrm>
            <a:off x="443484" y="4275343"/>
            <a:ext cx="521208" cy="228584"/>
          </a:xfrm>
          <a:prstGeom prst="flowChartAlternateProcess">
            <a:avLst/>
          </a:prstGeom>
          <a:solidFill>
            <a:srgbClr val="F8C8CB"/>
          </a:solidFill>
          <a:ln>
            <a:solidFill>
              <a:srgbClr val="C96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93776" y="4237383"/>
            <a:ext cx="621792" cy="31089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43A40"/>
                </a:solidFill>
                <a:latin typeface="Microsoft YaHei"/>
              </a:rPr>
              <a:t>视觉</a:t>
            </a:r>
          </a:p>
        </p:txBody>
      </p:sp>
      <p:sp>
        <p:nvSpPr>
          <p:cNvPr id="381" name="流程图: 可选过程 380">
            <a:extLst>
              <a:ext uri="{FF2B5EF4-FFF2-40B4-BE49-F238E27FC236}">
                <a16:creationId xmlns:a16="http://schemas.microsoft.com/office/drawing/2014/main" id="{CEE4FAF2-2D84-6D59-6395-1A1EB1A50CDC}"/>
              </a:ext>
            </a:extLst>
          </p:cNvPr>
          <p:cNvSpPr/>
          <p:nvPr/>
        </p:nvSpPr>
        <p:spPr>
          <a:xfrm>
            <a:off x="448055" y="2733092"/>
            <a:ext cx="521208" cy="228584"/>
          </a:xfrm>
          <a:prstGeom prst="flowChartAlternateProcess">
            <a:avLst/>
          </a:prstGeom>
          <a:solidFill>
            <a:srgbClr val="FCE590"/>
          </a:solidFill>
          <a:ln>
            <a:solidFill>
              <a:srgbClr val="D89B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66344" y="2696816"/>
            <a:ext cx="621792" cy="31089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err="1">
                <a:solidFill>
                  <a:srgbClr val="343A40"/>
                </a:solidFill>
                <a:latin typeface="Microsoft YaHei"/>
              </a:rPr>
              <a:t>音频</a:t>
            </a:r>
            <a:endParaRPr sz="1600" b="1">
              <a:solidFill>
                <a:srgbClr val="343A40"/>
              </a:solidFill>
              <a:latin typeface="Microsoft YaHei"/>
            </a:endParaRPr>
          </a:p>
        </p:txBody>
      </p:sp>
      <p:sp>
        <p:nvSpPr>
          <p:cNvPr id="383" name="流程图: 可选过程 382">
            <a:extLst>
              <a:ext uri="{FF2B5EF4-FFF2-40B4-BE49-F238E27FC236}">
                <a16:creationId xmlns:a16="http://schemas.microsoft.com/office/drawing/2014/main" id="{FCD3E77F-3EB3-72AD-4CDE-DD63C39E9908}"/>
              </a:ext>
            </a:extLst>
          </p:cNvPr>
          <p:cNvSpPr/>
          <p:nvPr/>
        </p:nvSpPr>
        <p:spPr>
          <a:xfrm>
            <a:off x="438912" y="1138436"/>
            <a:ext cx="521208" cy="228584"/>
          </a:xfrm>
          <a:prstGeom prst="flowChartAlternateProcess">
            <a:avLst/>
          </a:prstGeom>
          <a:solidFill>
            <a:srgbClr val="B9DCF2"/>
          </a:solidFill>
          <a:ln>
            <a:solidFill>
              <a:srgbClr val="5B8D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84631" y="1088136"/>
            <a:ext cx="621792" cy="31089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err="1">
                <a:solidFill>
                  <a:srgbClr val="343A40"/>
                </a:solidFill>
                <a:latin typeface="Microsoft YaHei"/>
              </a:rPr>
              <a:t>文本</a:t>
            </a:r>
            <a:endParaRPr sz="1600" b="1">
              <a:solidFill>
                <a:srgbClr val="343A40"/>
              </a:solidFill>
              <a:latin typeface="Microsoft YaHei"/>
            </a:endParaRPr>
          </a:p>
        </p:txBody>
      </p:sp>
      <p:cxnSp>
        <p:nvCxnSpPr>
          <p:cNvPr id="390" name="连接符: 肘形 389">
            <a:extLst>
              <a:ext uri="{FF2B5EF4-FFF2-40B4-BE49-F238E27FC236}">
                <a16:creationId xmlns:a16="http://schemas.microsoft.com/office/drawing/2014/main" id="{D0A13AEC-ECBB-BDD7-5F02-67CF4AE598D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855514" y="3263691"/>
            <a:ext cx="3146210" cy="329944"/>
          </a:xfrm>
          <a:prstGeom prst="bentConnector3">
            <a:avLst>
              <a:gd name="adj1" fmla="val 204"/>
            </a:avLst>
          </a:prstGeom>
          <a:ln w="57150">
            <a:solidFill>
              <a:srgbClr val="EFB7B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直接箭头连接符 396">
            <a:extLst>
              <a:ext uri="{FF2B5EF4-FFF2-40B4-BE49-F238E27FC236}">
                <a16:creationId xmlns:a16="http://schemas.microsoft.com/office/drawing/2014/main" id="{D794205F-28F1-58EB-A361-08F00C29A1C5}"/>
              </a:ext>
            </a:extLst>
          </p:cNvPr>
          <p:cNvCxnSpPr>
            <a:cxnSpLocks/>
          </p:cNvCxnSpPr>
          <p:nvPr/>
        </p:nvCxnSpPr>
        <p:spPr>
          <a:xfrm>
            <a:off x="3255264" y="3255264"/>
            <a:ext cx="335280" cy="0"/>
          </a:xfrm>
          <a:prstGeom prst="straightConnector1">
            <a:avLst/>
          </a:prstGeom>
          <a:ln w="57150">
            <a:solidFill>
              <a:srgbClr val="EFD98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箭头: 右 406">
            <a:extLst>
              <a:ext uri="{FF2B5EF4-FFF2-40B4-BE49-F238E27FC236}">
                <a16:creationId xmlns:a16="http://schemas.microsoft.com/office/drawing/2014/main" id="{063B64A8-26F8-3BCE-35E1-A850A7C412E9}"/>
              </a:ext>
            </a:extLst>
          </p:cNvPr>
          <p:cNvSpPr/>
          <p:nvPr/>
        </p:nvSpPr>
        <p:spPr>
          <a:xfrm>
            <a:off x="3340608" y="1560064"/>
            <a:ext cx="512064" cy="3742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Rounded Rectangle 4">
            <a:extLst>
              <a:ext uri="{FF2B5EF4-FFF2-40B4-BE49-F238E27FC236}">
                <a16:creationId xmlns:a16="http://schemas.microsoft.com/office/drawing/2014/main" id="{AC776E78-B2C6-839B-9F11-0D039A480A84}"/>
              </a:ext>
            </a:extLst>
          </p:cNvPr>
          <p:cNvSpPr/>
          <p:nvPr/>
        </p:nvSpPr>
        <p:spPr>
          <a:xfrm>
            <a:off x="9601200" y="3868804"/>
            <a:ext cx="2270760" cy="1793694"/>
          </a:xfrm>
          <a:prstGeom prst="roundRect">
            <a:avLst>
              <a:gd name="adj" fmla="val 12000"/>
            </a:avLst>
          </a:prstGeom>
          <a:noFill/>
          <a:ln w="14604">
            <a:solidFill>
              <a:srgbClr val="C9DAD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文本框 409">
            <a:extLst>
              <a:ext uri="{FF2B5EF4-FFF2-40B4-BE49-F238E27FC236}">
                <a16:creationId xmlns:a16="http://schemas.microsoft.com/office/drawing/2014/main" id="{685CEF47-A9F3-4896-9848-A3E779632917}"/>
              </a:ext>
            </a:extLst>
          </p:cNvPr>
          <p:cNvSpPr txBox="1"/>
          <p:nvPr/>
        </p:nvSpPr>
        <p:spPr>
          <a:xfrm>
            <a:off x="9631680" y="4015740"/>
            <a:ext cx="21366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文本证据：可回溯</a:t>
            </a:r>
          </a:p>
        </p:txBody>
      </p:sp>
      <p:sp>
        <p:nvSpPr>
          <p:cNvPr id="411" name="文本框 410">
            <a:extLst>
              <a:ext uri="{FF2B5EF4-FFF2-40B4-BE49-F238E27FC236}">
                <a16:creationId xmlns:a16="http://schemas.microsoft.com/office/drawing/2014/main" id="{6E96DF00-A3B9-34D1-209B-8563A8F9A33E}"/>
              </a:ext>
            </a:extLst>
          </p:cNvPr>
          <p:cNvSpPr txBox="1"/>
          <p:nvPr/>
        </p:nvSpPr>
        <p:spPr>
          <a:xfrm>
            <a:off x="9631680" y="4282439"/>
            <a:ext cx="2136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音 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视 ：仅特征模位</a:t>
            </a:r>
            <a:endParaRPr lang="en-US" altLang="zh-CN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rPr>
              <a:t>原始秒数与帧导未验证</a:t>
            </a:r>
          </a:p>
        </p:txBody>
      </p:sp>
      <p:sp>
        <p:nvSpPr>
          <p:cNvPr id="412" name="流程图: 可选过程 411">
            <a:extLst>
              <a:ext uri="{FF2B5EF4-FFF2-40B4-BE49-F238E27FC236}">
                <a16:creationId xmlns:a16="http://schemas.microsoft.com/office/drawing/2014/main" id="{278F95A5-96D1-ECBF-A027-20647E279A58}"/>
              </a:ext>
            </a:extLst>
          </p:cNvPr>
          <p:cNvSpPr/>
          <p:nvPr/>
        </p:nvSpPr>
        <p:spPr>
          <a:xfrm>
            <a:off x="9720072" y="4901184"/>
            <a:ext cx="2048256" cy="682752"/>
          </a:xfrm>
          <a:prstGeom prst="flowChartAlternateProcess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4" name="文本框 413">
            <a:extLst>
              <a:ext uri="{FF2B5EF4-FFF2-40B4-BE49-F238E27FC236}">
                <a16:creationId xmlns:a16="http://schemas.microsoft.com/office/drawing/2014/main" id="{D3AE0695-C7EA-344C-E3B0-0A317E136B60}"/>
              </a:ext>
            </a:extLst>
          </p:cNvPr>
          <p:cNvSpPr txBox="1"/>
          <p:nvPr/>
        </p:nvSpPr>
        <p:spPr>
          <a:xfrm>
            <a:off x="9698736" y="4927361"/>
            <a:ext cx="21366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</a:rPr>
              <a:t>关键区间删除       随机删除</a:t>
            </a:r>
          </a:p>
        </p:txBody>
      </p:sp>
      <p:sp>
        <p:nvSpPr>
          <p:cNvPr id="416" name="箭头: 左 415">
            <a:extLst>
              <a:ext uri="{FF2B5EF4-FFF2-40B4-BE49-F238E27FC236}">
                <a16:creationId xmlns:a16="http://schemas.microsoft.com/office/drawing/2014/main" id="{BF013663-59BD-8255-600B-6C0BA35FF4D4}"/>
              </a:ext>
            </a:extLst>
          </p:cNvPr>
          <p:cNvSpPr/>
          <p:nvPr/>
        </p:nvSpPr>
        <p:spPr>
          <a:xfrm>
            <a:off x="10602468" y="5004816"/>
            <a:ext cx="75692" cy="92964"/>
          </a:xfrm>
          <a:prstGeom prst="lef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箭头: 右 416">
            <a:extLst>
              <a:ext uri="{FF2B5EF4-FFF2-40B4-BE49-F238E27FC236}">
                <a16:creationId xmlns:a16="http://schemas.microsoft.com/office/drawing/2014/main" id="{62F62D17-842A-1735-934F-EECF1A476645}"/>
              </a:ext>
            </a:extLst>
          </p:cNvPr>
          <p:cNvSpPr/>
          <p:nvPr/>
        </p:nvSpPr>
        <p:spPr>
          <a:xfrm>
            <a:off x="10688320" y="5002068"/>
            <a:ext cx="83820" cy="9825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流程图: 可选过程 417">
            <a:extLst>
              <a:ext uri="{FF2B5EF4-FFF2-40B4-BE49-F238E27FC236}">
                <a16:creationId xmlns:a16="http://schemas.microsoft.com/office/drawing/2014/main" id="{E1F08E5A-B3AC-7844-2393-DB3E91B39D51}"/>
              </a:ext>
            </a:extLst>
          </p:cNvPr>
          <p:cNvSpPr/>
          <p:nvPr/>
        </p:nvSpPr>
        <p:spPr>
          <a:xfrm>
            <a:off x="11069320" y="5410200"/>
            <a:ext cx="71120" cy="115871"/>
          </a:xfrm>
          <a:prstGeom prst="flowChartAlternateProcess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9" name="流程图: 可选过程 418">
            <a:extLst>
              <a:ext uri="{FF2B5EF4-FFF2-40B4-BE49-F238E27FC236}">
                <a16:creationId xmlns:a16="http://schemas.microsoft.com/office/drawing/2014/main" id="{87DA888B-C0FA-BDB3-20BC-403D2A1B6B55}"/>
              </a:ext>
            </a:extLst>
          </p:cNvPr>
          <p:cNvSpPr/>
          <p:nvPr/>
        </p:nvSpPr>
        <p:spPr>
          <a:xfrm>
            <a:off x="11198860" y="5306060"/>
            <a:ext cx="71120" cy="22001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0" name="流程图: 可选过程 419">
            <a:extLst>
              <a:ext uri="{FF2B5EF4-FFF2-40B4-BE49-F238E27FC236}">
                <a16:creationId xmlns:a16="http://schemas.microsoft.com/office/drawing/2014/main" id="{C876F61E-F0D2-904E-2EC8-2D8B920A2108}"/>
              </a:ext>
            </a:extLst>
          </p:cNvPr>
          <p:cNvSpPr/>
          <p:nvPr/>
        </p:nvSpPr>
        <p:spPr>
          <a:xfrm>
            <a:off x="11330940" y="5146548"/>
            <a:ext cx="76200" cy="379523"/>
          </a:xfrm>
          <a:prstGeom prst="flowChartAlternateProcess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1" name="流程图: 可选过程 420">
            <a:extLst>
              <a:ext uri="{FF2B5EF4-FFF2-40B4-BE49-F238E27FC236}">
                <a16:creationId xmlns:a16="http://schemas.microsoft.com/office/drawing/2014/main" id="{5501FFD4-6CCC-5F1A-A7FF-8040B2F170C7}"/>
              </a:ext>
            </a:extLst>
          </p:cNvPr>
          <p:cNvSpPr/>
          <p:nvPr/>
        </p:nvSpPr>
        <p:spPr>
          <a:xfrm>
            <a:off x="11485880" y="5361940"/>
            <a:ext cx="66040" cy="164131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2" name="流程图: 可选过程 421">
            <a:extLst>
              <a:ext uri="{FF2B5EF4-FFF2-40B4-BE49-F238E27FC236}">
                <a16:creationId xmlns:a16="http://schemas.microsoft.com/office/drawing/2014/main" id="{5570FA8F-72A4-9808-7B23-576391A95650}"/>
              </a:ext>
            </a:extLst>
          </p:cNvPr>
          <p:cNvSpPr/>
          <p:nvPr/>
        </p:nvSpPr>
        <p:spPr>
          <a:xfrm>
            <a:off x="7935087" y="1031680"/>
            <a:ext cx="1028698" cy="1417320"/>
          </a:xfrm>
          <a:prstGeom prst="flowChartAlternateProcess">
            <a:avLst/>
          </a:prstGeom>
          <a:solidFill>
            <a:srgbClr val="E8F1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8031944" y="1074420"/>
            <a:ext cx="841248" cy="72237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类别预测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强度预测</a:t>
            </a:r>
          </a:p>
        </p:txBody>
      </p:sp>
      <p:sp>
        <p:nvSpPr>
          <p:cNvPr id="423" name="流程图: 可选过程 422">
            <a:extLst>
              <a:ext uri="{FF2B5EF4-FFF2-40B4-BE49-F238E27FC236}">
                <a16:creationId xmlns:a16="http://schemas.microsoft.com/office/drawing/2014/main" id="{DA582E07-CFA6-749B-9588-4998AC15D837}"/>
              </a:ext>
            </a:extLst>
          </p:cNvPr>
          <p:cNvSpPr/>
          <p:nvPr/>
        </p:nvSpPr>
        <p:spPr>
          <a:xfrm>
            <a:off x="8221980" y="2183083"/>
            <a:ext cx="71120" cy="115871"/>
          </a:xfrm>
          <a:prstGeom prst="flowChartAlternateProcess">
            <a:avLst/>
          </a:prstGeom>
          <a:solidFill>
            <a:srgbClr val="D6E6F2"/>
          </a:solidFill>
          <a:ln>
            <a:solidFill>
              <a:srgbClr val="365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9EAF7"/>
              </a:solidFill>
            </a:endParaRPr>
          </a:p>
        </p:txBody>
      </p:sp>
      <p:sp>
        <p:nvSpPr>
          <p:cNvPr id="424" name="流程图: 可选过程 423">
            <a:extLst>
              <a:ext uri="{FF2B5EF4-FFF2-40B4-BE49-F238E27FC236}">
                <a16:creationId xmlns:a16="http://schemas.microsoft.com/office/drawing/2014/main" id="{63531B8E-71A3-FC21-C806-9EDB9B2F0291}"/>
              </a:ext>
            </a:extLst>
          </p:cNvPr>
          <p:cNvSpPr/>
          <p:nvPr/>
        </p:nvSpPr>
        <p:spPr>
          <a:xfrm>
            <a:off x="8351520" y="2078943"/>
            <a:ext cx="71120" cy="220011"/>
          </a:xfrm>
          <a:prstGeom prst="flowChartAlternateProcess">
            <a:avLst/>
          </a:prstGeom>
          <a:solidFill>
            <a:srgbClr val="9FC5DB"/>
          </a:solidFill>
          <a:ln>
            <a:solidFill>
              <a:srgbClr val="365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5" name="流程图: 可选过程 424">
            <a:extLst>
              <a:ext uri="{FF2B5EF4-FFF2-40B4-BE49-F238E27FC236}">
                <a16:creationId xmlns:a16="http://schemas.microsoft.com/office/drawing/2014/main" id="{6ABEE5F2-3603-748F-9036-A1BC99F114D5}"/>
              </a:ext>
            </a:extLst>
          </p:cNvPr>
          <p:cNvSpPr/>
          <p:nvPr/>
        </p:nvSpPr>
        <p:spPr>
          <a:xfrm>
            <a:off x="8483600" y="1919431"/>
            <a:ext cx="76200" cy="379523"/>
          </a:xfrm>
          <a:prstGeom prst="flowChartAlternateProcess">
            <a:avLst/>
          </a:prstGeom>
          <a:solidFill>
            <a:srgbClr val="9FC5DB"/>
          </a:solidFill>
          <a:ln>
            <a:solidFill>
              <a:srgbClr val="365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流程图: 可选过程 425">
            <a:extLst>
              <a:ext uri="{FF2B5EF4-FFF2-40B4-BE49-F238E27FC236}">
                <a16:creationId xmlns:a16="http://schemas.microsoft.com/office/drawing/2014/main" id="{CDD6E911-1CEE-B569-F449-04B338F09C0C}"/>
              </a:ext>
            </a:extLst>
          </p:cNvPr>
          <p:cNvSpPr/>
          <p:nvPr/>
        </p:nvSpPr>
        <p:spPr>
          <a:xfrm>
            <a:off x="8637269" y="1759459"/>
            <a:ext cx="79993" cy="539496"/>
          </a:xfrm>
          <a:prstGeom prst="flowChartAlternateProcess">
            <a:avLst/>
          </a:prstGeom>
          <a:solidFill>
            <a:srgbClr val="3F6F8F"/>
          </a:solidFill>
          <a:ln>
            <a:solidFill>
              <a:srgbClr val="365D7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流程图: 可选过程 426">
            <a:extLst>
              <a:ext uri="{FF2B5EF4-FFF2-40B4-BE49-F238E27FC236}">
                <a16:creationId xmlns:a16="http://schemas.microsoft.com/office/drawing/2014/main" id="{91497035-B558-6E53-648E-2B73201E46E5}"/>
              </a:ext>
            </a:extLst>
          </p:cNvPr>
          <p:cNvSpPr/>
          <p:nvPr/>
        </p:nvSpPr>
        <p:spPr>
          <a:xfrm>
            <a:off x="6592825" y="1031680"/>
            <a:ext cx="1028698" cy="1417320"/>
          </a:xfrm>
          <a:prstGeom prst="flowChartAlternateProcess">
            <a:avLst/>
          </a:prstGeom>
          <a:solidFill>
            <a:srgbClr val="E8F1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TextBox 122"/>
          <p:cNvSpPr txBox="1"/>
          <p:nvPr/>
        </p:nvSpPr>
        <p:spPr>
          <a:xfrm>
            <a:off x="6712649" y="1064561"/>
            <a:ext cx="804672" cy="72237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多模态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43A40"/>
                </a:solidFill>
                <a:latin typeface="Microsoft YaHei"/>
              </a:rPr>
              <a:t>融合</a:t>
            </a:r>
          </a:p>
        </p:txBody>
      </p:sp>
      <p:sp>
        <p:nvSpPr>
          <p:cNvPr id="428" name="流程图: 可选过程 427">
            <a:extLst>
              <a:ext uri="{FF2B5EF4-FFF2-40B4-BE49-F238E27FC236}">
                <a16:creationId xmlns:a16="http://schemas.microsoft.com/office/drawing/2014/main" id="{0E208569-B618-0422-CCA2-941F9A1EFB19}"/>
              </a:ext>
            </a:extLst>
          </p:cNvPr>
          <p:cNvSpPr/>
          <p:nvPr/>
        </p:nvSpPr>
        <p:spPr>
          <a:xfrm>
            <a:off x="6683501" y="1786060"/>
            <a:ext cx="497585" cy="156122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流程图: 可选过程 428">
            <a:extLst>
              <a:ext uri="{FF2B5EF4-FFF2-40B4-BE49-F238E27FC236}">
                <a16:creationId xmlns:a16="http://schemas.microsoft.com/office/drawing/2014/main" id="{FE2DF83C-F8A6-85D1-E5EC-7CFE4A6EC3F9}"/>
              </a:ext>
            </a:extLst>
          </p:cNvPr>
          <p:cNvSpPr/>
          <p:nvPr/>
        </p:nvSpPr>
        <p:spPr>
          <a:xfrm>
            <a:off x="6681216" y="2043348"/>
            <a:ext cx="800100" cy="156122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流程图: 可选过程 429">
            <a:extLst>
              <a:ext uri="{FF2B5EF4-FFF2-40B4-BE49-F238E27FC236}">
                <a16:creationId xmlns:a16="http://schemas.microsoft.com/office/drawing/2014/main" id="{5DBCBBEF-0A5E-A39E-5C69-19D799725DF8}"/>
              </a:ext>
            </a:extLst>
          </p:cNvPr>
          <p:cNvSpPr/>
          <p:nvPr/>
        </p:nvSpPr>
        <p:spPr>
          <a:xfrm>
            <a:off x="5204463" y="1031680"/>
            <a:ext cx="1028698" cy="1417320"/>
          </a:xfrm>
          <a:prstGeom prst="flowChartAlternateProcess">
            <a:avLst/>
          </a:prstGeom>
          <a:solidFill>
            <a:srgbClr val="E8F1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TextBox 118"/>
          <p:cNvSpPr txBox="1"/>
          <p:nvPr/>
        </p:nvSpPr>
        <p:spPr>
          <a:xfrm>
            <a:off x="5092447" y="1046988"/>
            <a:ext cx="1234439" cy="72237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3A40"/>
                </a:solidFill>
                <a:latin typeface="Microsoft YaHei"/>
              </a:rPr>
              <a:t>均值池化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3A40"/>
                </a:solidFill>
                <a:latin typeface="Microsoft YaHei"/>
              </a:rPr>
              <a:t>＋注意力残差</a:t>
            </a:r>
          </a:p>
        </p:txBody>
      </p:sp>
      <p:sp>
        <p:nvSpPr>
          <p:cNvPr id="431" name="流程图: 可选过程 430">
            <a:extLst>
              <a:ext uri="{FF2B5EF4-FFF2-40B4-BE49-F238E27FC236}">
                <a16:creationId xmlns:a16="http://schemas.microsoft.com/office/drawing/2014/main" id="{FC6C4596-653F-11FE-1121-2F6EE1C779F4}"/>
              </a:ext>
            </a:extLst>
          </p:cNvPr>
          <p:cNvSpPr/>
          <p:nvPr/>
        </p:nvSpPr>
        <p:spPr>
          <a:xfrm>
            <a:off x="5288280" y="1965961"/>
            <a:ext cx="60960" cy="18107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流程图: 可选过程 434">
            <a:extLst>
              <a:ext uri="{FF2B5EF4-FFF2-40B4-BE49-F238E27FC236}">
                <a16:creationId xmlns:a16="http://schemas.microsoft.com/office/drawing/2014/main" id="{9D8B0A59-990E-9192-4E88-A9A2A36B0A0C}"/>
              </a:ext>
            </a:extLst>
          </p:cNvPr>
          <p:cNvSpPr/>
          <p:nvPr/>
        </p:nvSpPr>
        <p:spPr>
          <a:xfrm>
            <a:off x="5381752" y="1965961"/>
            <a:ext cx="60960" cy="18107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流程图: 可选过程 435">
            <a:extLst>
              <a:ext uri="{FF2B5EF4-FFF2-40B4-BE49-F238E27FC236}">
                <a16:creationId xmlns:a16="http://schemas.microsoft.com/office/drawing/2014/main" id="{A052BCD4-C675-3BBC-8867-6442624DF661}"/>
              </a:ext>
            </a:extLst>
          </p:cNvPr>
          <p:cNvSpPr/>
          <p:nvPr/>
        </p:nvSpPr>
        <p:spPr>
          <a:xfrm>
            <a:off x="5475224" y="1965961"/>
            <a:ext cx="60960" cy="18107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流程图: 可选过程 436">
            <a:extLst>
              <a:ext uri="{FF2B5EF4-FFF2-40B4-BE49-F238E27FC236}">
                <a16:creationId xmlns:a16="http://schemas.microsoft.com/office/drawing/2014/main" id="{86F7F21B-2098-CA92-EBE5-831C00EE35EC}"/>
              </a:ext>
            </a:extLst>
          </p:cNvPr>
          <p:cNvSpPr/>
          <p:nvPr/>
        </p:nvSpPr>
        <p:spPr>
          <a:xfrm>
            <a:off x="5568696" y="1965961"/>
            <a:ext cx="60960" cy="181076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9" name="直接箭头连接符 438">
            <a:extLst>
              <a:ext uri="{FF2B5EF4-FFF2-40B4-BE49-F238E27FC236}">
                <a16:creationId xmlns:a16="http://schemas.microsoft.com/office/drawing/2014/main" id="{0A42FCF3-1084-F573-D440-3B8B833C74A9}"/>
              </a:ext>
            </a:extLst>
          </p:cNvPr>
          <p:cNvCxnSpPr>
            <a:cxnSpLocks/>
          </p:cNvCxnSpPr>
          <p:nvPr/>
        </p:nvCxnSpPr>
        <p:spPr>
          <a:xfrm>
            <a:off x="5642610" y="2048256"/>
            <a:ext cx="102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椭圆 439">
            <a:extLst>
              <a:ext uri="{FF2B5EF4-FFF2-40B4-BE49-F238E27FC236}">
                <a16:creationId xmlns:a16="http://schemas.microsoft.com/office/drawing/2014/main" id="{60BEC71F-7D24-DEE4-06A6-A9F0E1961059}"/>
              </a:ext>
            </a:extLst>
          </p:cNvPr>
          <p:cNvSpPr/>
          <p:nvPr/>
        </p:nvSpPr>
        <p:spPr>
          <a:xfrm>
            <a:off x="5753100" y="1993392"/>
            <a:ext cx="122682" cy="1226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2" name="直接连接符 441">
            <a:extLst>
              <a:ext uri="{FF2B5EF4-FFF2-40B4-BE49-F238E27FC236}">
                <a16:creationId xmlns:a16="http://schemas.microsoft.com/office/drawing/2014/main" id="{A41AA561-8E52-A7EC-A723-BBD74116E559}"/>
              </a:ext>
            </a:extLst>
          </p:cNvPr>
          <p:cNvCxnSpPr>
            <a:stCxn id="440" idx="2"/>
            <a:endCxn id="440" idx="6"/>
          </p:cNvCxnSpPr>
          <p:nvPr/>
        </p:nvCxnSpPr>
        <p:spPr>
          <a:xfrm>
            <a:off x="5753100" y="2054733"/>
            <a:ext cx="1226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直接连接符 443">
            <a:extLst>
              <a:ext uri="{FF2B5EF4-FFF2-40B4-BE49-F238E27FC236}">
                <a16:creationId xmlns:a16="http://schemas.microsoft.com/office/drawing/2014/main" id="{0D704CCB-D45D-6372-B463-DE5F71613E9F}"/>
              </a:ext>
            </a:extLst>
          </p:cNvPr>
          <p:cNvCxnSpPr>
            <a:cxnSpLocks/>
            <a:stCxn id="440" idx="0"/>
            <a:endCxn id="440" idx="4"/>
          </p:cNvCxnSpPr>
          <p:nvPr/>
        </p:nvCxnSpPr>
        <p:spPr>
          <a:xfrm>
            <a:off x="5814441" y="1993392"/>
            <a:ext cx="0" cy="1226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流程图: 可选过程 446">
            <a:extLst>
              <a:ext uri="{FF2B5EF4-FFF2-40B4-BE49-F238E27FC236}">
                <a16:creationId xmlns:a16="http://schemas.microsoft.com/office/drawing/2014/main" id="{48E8F636-251E-2E6F-33D4-08C40C665746}"/>
              </a:ext>
            </a:extLst>
          </p:cNvPr>
          <p:cNvSpPr/>
          <p:nvPr/>
        </p:nvSpPr>
        <p:spPr>
          <a:xfrm>
            <a:off x="6009895" y="2022347"/>
            <a:ext cx="155446" cy="5486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8" name="直接箭头连接符 447">
            <a:extLst>
              <a:ext uri="{FF2B5EF4-FFF2-40B4-BE49-F238E27FC236}">
                <a16:creationId xmlns:a16="http://schemas.microsoft.com/office/drawing/2014/main" id="{D0CD0B3C-52A0-D192-9018-64117A3CBCCC}"/>
              </a:ext>
            </a:extLst>
          </p:cNvPr>
          <p:cNvCxnSpPr>
            <a:cxnSpLocks/>
          </p:cNvCxnSpPr>
          <p:nvPr/>
        </p:nvCxnSpPr>
        <p:spPr>
          <a:xfrm>
            <a:off x="5894070" y="2048256"/>
            <a:ext cx="1104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流程图: 可选过程 485">
            <a:extLst>
              <a:ext uri="{FF2B5EF4-FFF2-40B4-BE49-F238E27FC236}">
                <a16:creationId xmlns:a16="http://schemas.microsoft.com/office/drawing/2014/main" id="{E60FDFC5-1B01-7041-A01A-35D867826D21}"/>
              </a:ext>
            </a:extLst>
          </p:cNvPr>
          <p:cNvSpPr/>
          <p:nvPr/>
        </p:nvSpPr>
        <p:spPr>
          <a:xfrm>
            <a:off x="3863342" y="1031680"/>
            <a:ext cx="1028698" cy="1417320"/>
          </a:xfrm>
          <a:prstGeom prst="flowChartAlternateProcess">
            <a:avLst/>
          </a:prstGeom>
          <a:solidFill>
            <a:srgbClr val="E8F1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3913632" y="1072134"/>
            <a:ext cx="886968" cy="722376"/>
          </a:xfrm>
          <a:prstGeom prst="rect">
            <a:avLst/>
          </a:prstGeom>
          <a:noFill/>
        </p:spPr>
        <p:txBody>
          <a:bodyPr wrap="square" lIns="18288" tIns="4572" rIns="18288" bIns="457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Microsoft YaHei"/>
              </a:rPr>
              <a:t>三模态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43A40"/>
                </a:solidFill>
                <a:latin typeface="Microsoft YaHei"/>
              </a:rPr>
              <a:t>特征</a:t>
            </a:r>
          </a:p>
        </p:txBody>
      </p:sp>
      <p:sp>
        <p:nvSpPr>
          <p:cNvPr id="487" name="流程图: 可选过程 486">
            <a:extLst>
              <a:ext uri="{FF2B5EF4-FFF2-40B4-BE49-F238E27FC236}">
                <a16:creationId xmlns:a16="http://schemas.microsoft.com/office/drawing/2014/main" id="{E9192155-E494-6FF9-5EB8-25EA06941F6F}"/>
              </a:ext>
            </a:extLst>
          </p:cNvPr>
          <p:cNvSpPr/>
          <p:nvPr/>
        </p:nvSpPr>
        <p:spPr>
          <a:xfrm>
            <a:off x="3963543" y="1756073"/>
            <a:ext cx="860298" cy="156122"/>
          </a:xfrm>
          <a:prstGeom prst="flowChartAlternateProcess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0" name="流程图: 可选过程 489">
            <a:extLst>
              <a:ext uri="{FF2B5EF4-FFF2-40B4-BE49-F238E27FC236}">
                <a16:creationId xmlns:a16="http://schemas.microsoft.com/office/drawing/2014/main" id="{6A53C0AB-7635-D667-98F2-867BE362896E}"/>
              </a:ext>
            </a:extLst>
          </p:cNvPr>
          <p:cNvSpPr/>
          <p:nvPr/>
        </p:nvSpPr>
        <p:spPr>
          <a:xfrm>
            <a:off x="3966376" y="1974868"/>
            <a:ext cx="600074" cy="156122"/>
          </a:xfrm>
          <a:prstGeom prst="flowChartAlternateProcess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1" name="流程图: 可选过程 490">
            <a:extLst>
              <a:ext uri="{FF2B5EF4-FFF2-40B4-BE49-F238E27FC236}">
                <a16:creationId xmlns:a16="http://schemas.microsoft.com/office/drawing/2014/main" id="{1D116D8D-C342-5C53-0E08-5906FADE920C}"/>
              </a:ext>
            </a:extLst>
          </p:cNvPr>
          <p:cNvSpPr/>
          <p:nvPr/>
        </p:nvSpPr>
        <p:spPr>
          <a:xfrm>
            <a:off x="3966376" y="2193663"/>
            <a:ext cx="335280" cy="156122"/>
          </a:xfrm>
          <a:prstGeom prst="flowChartAlternateProcess">
            <a:avLst/>
          </a:prstGeom>
          <a:solidFill>
            <a:srgbClr val="EFB7B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2" name="连接符: 曲线 501">
            <a:extLst>
              <a:ext uri="{FF2B5EF4-FFF2-40B4-BE49-F238E27FC236}">
                <a16:creationId xmlns:a16="http://schemas.microsoft.com/office/drawing/2014/main" id="{A39C3B2D-36AD-E7B4-BDE0-A47472542FE9}"/>
              </a:ext>
            </a:extLst>
          </p:cNvPr>
          <p:cNvCxnSpPr>
            <a:cxnSpLocks/>
          </p:cNvCxnSpPr>
          <p:nvPr/>
        </p:nvCxnSpPr>
        <p:spPr>
          <a:xfrm rot="10800000">
            <a:off x="5294758" y="2066544"/>
            <a:ext cx="529590" cy="279995"/>
          </a:xfrm>
          <a:prstGeom prst="curvedConnector3">
            <a:avLst>
              <a:gd name="adj1" fmla="val 111510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115">
            <a:extLst>
              <a:ext uri="{FF2B5EF4-FFF2-40B4-BE49-F238E27FC236}">
                <a16:creationId xmlns:a16="http://schemas.microsoft.com/office/drawing/2014/main" id="{A8BDC9CC-DA78-2F74-F63E-1DAB76F05CAD}"/>
              </a:ext>
            </a:extLst>
          </p:cNvPr>
          <p:cNvCxnSpPr/>
          <p:nvPr/>
        </p:nvCxnSpPr>
        <p:spPr>
          <a:xfrm>
            <a:off x="6268213" y="1764792"/>
            <a:ext cx="228600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Isosceles Triangle 116">
            <a:extLst>
              <a:ext uri="{FF2B5EF4-FFF2-40B4-BE49-F238E27FC236}">
                <a16:creationId xmlns:a16="http://schemas.microsoft.com/office/drawing/2014/main" id="{7965702A-51BE-3F70-9876-383FC476CE8C}"/>
              </a:ext>
            </a:extLst>
          </p:cNvPr>
          <p:cNvSpPr/>
          <p:nvPr/>
        </p:nvSpPr>
        <p:spPr>
          <a:xfrm rot="5400000">
            <a:off x="6428232" y="169621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6" name="Connector 115">
            <a:extLst>
              <a:ext uri="{FF2B5EF4-FFF2-40B4-BE49-F238E27FC236}">
                <a16:creationId xmlns:a16="http://schemas.microsoft.com/office/drawing/2014/main" id="{22C53241-8EA9-7EBD-1D00-61D40A95CA6F}"/>
              </a:ext>
            </a:extLst>
          </p:cNvPr>
          <p:cNvCxnSpPr/>
          <p:nvPr/>
        </p:nvCxnSpPr>
        <p:spPr>
          <a:xfrm>
            <a:off x="7630669" y="1764792"/>
            <a:ext cx="228600" cy="0"/>
          </a:xfrm>
          <a:prstGeom prst="line">
            <a:avLst/>
          </a:prstGeom>
          <a:ln w="19050">
            <a:solidFill>
              <a:srgbClr val="2F6F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Isosceles Triangle 116">
            <a:extLst>
              <a:ext uri="{FF2B5EF4-FFF2-40B4-BE49-F238E27FC236}">
                <a16:creationId xmlns:a16="http://schemas.microsoft.com/office/drawing/2014/main" id="{D4EEA8B7-485D-894D-7238-44E62525AB9E}"/>
              </a:ext>
            </a:extLst>
          </p:cNvPr>
          <p:cNvSpPr/>
          <p:nvPr/>
        </p:nvSpPr>
        <p:spPr>
          <a:xfrm rot="5400000">
            <a:off x="7790688" y="1696212"/>
            <a:ext cx="137160" cy="137160"/>
          </a:xfrm>
          <a:prstGeom prst="triangle">
            <a:avLst/>
          </a:prstGeom>
          <a:solidFill>
            <a:srgbClr val="2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9" name="直接箭头连接符 508">
            <a:extLst>
              <a:ext uri="{FF2B5EF4-FFF2-40B4-BE49-F238E27FC236}">
                <a16:creationId xmlns:a16="http://schemas.microsoft.com/office/drawing/2014/main" id="{ABBF8C7E-7320-6119-8BC4-AE218647F180}"/>
              </a:ext>
            </a:extLst>
          </p:cNvPr>
          <p:cNvCxnSpPr>
            <a:stCxn id="132" idx="3"/>
            <a:endCxn id="134" idx="1"/>
          </p:cNvCxnSpPr>
          <p:nvPr/>
        </p:nvCxnSpPr>
        <p:spPr>
          <a:xfrm>
            <a:off x="4920234" y="3936492"/>
            <a:ext cx="18364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直接箭头连接符 510">
            <a:extLst>
              <a:ext uri="{FF2B5EF4-FFF2-40B4-BE49-F238E27FC236}">
                <a16:creationId xmlns:a16="http://schemas.microsoft.com/office/drawing/2014/main" id="{6E702338-7E3A-A96D-4074-BF390C2900AC}"/>
              </a:ext>
            </a:extLst>
          </p:cNvPr>
          <p:cNvCxnSpPr>
            <a:stCxn id="134" idx="3"/>
            <a:endCxn id="136" idx="1"/>
          </p:cNvCxnSpPr>
          <p:nvPr/>
        </p:nvCxnSpPr>
        <p:spPr>
          <a:xfrm>
            <a:off x="6256020" y="3936492"/>
            <a:ext cx="1798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直接箭头连接符 511">
            <a:extLst>
              <a:ext uri="{FF2B5EF4-FFF2-40B4-BE49-F238E27FC236}">
                <a16:creationId xmlns:a16="http://schemas.microsoft.com/office/drawing/2014/main" id="{8EE54554-2826-0570-8A2F-C61EBE99A3DE}"/>
              </a:ext>
            </a:extLst>
          </p:cNvPr>
          <p:cNvCxnSpPr/>
          <p:nvPr/>
        </p:nvCxnSpPr>
        <p:spPr>
          <a:xfrm>
            <a:off x="7595616" y="3936492"/>
            <a:ext cx="17983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流程图: 可选过程 512">
            <a:extLst>
              <a:ext uri="{FF2B5EF4-FFF2-40B4-BE49-F238E27FC236}">
                <a16:creationId xmlns:a16="http://schemas.microsoft.com/office/drawing/2014/main" id="{479CEE80-B9AC-114A-D91E-D337CD0C3042}"/>
              </a:ext>
            </a:extLst>
          </p:cNvPr>
          <p:cNvSpPr/>
          <p:nvPr/>
        </p:nvSpPr>
        <p:spPr>
          <a:xfrm>
            <a:off x="12776200" y="1640104"/>
            <a:ext cx="5205984" cy="1564861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4" name="箭头: 右 513">
            <a:extLst>
              <a:ext uri="{FF2B5EF4-FFF2-40B4-BE49-F238E27FC236}">
                <a16:creationId xmlns:a16="http://schemas.microsoft.com/office/drawing/2014/main" id="{4568A2AF-9A4E-5C4F-D153-9D6618E52642}"/>
              </a:ext>
            </a:extLst>
          </p:cNvPr>
          <p:cNvSpPr/>
          <p:nvPr/>
        </p:nvSpPr>
        <p:spPr>
          <a:xfrm>
            <a:off x="9031224" y="1560064"/>
            <a:ext cx="407504" cy="29549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5" name="箭头: 下 514">
            <a:extLst>
              <a:ext uri="{FF2B5EF4-FFF2-40B4-BE49-F238E27FC236}">
                <a16:creationId xmlns:a16="http://schemas.microsoft.com/office/drawing/2014/main" id="{80E1965B-E434-59C8-8CDE-586E68384B93}"/>
              </a:ext>
            </a:extLst>
          </p:cNvPr>
          <p:cNvSpPr/>
          <p:nvPr/>
        </p:nvSpPr>
        <p:spPr>
          <a:xfrm>
            <a:off x="10459593" y="2856001"/>
            <a:ext cx="422910" cy="5135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6" name="直接箭头连接符 525">
            <a:extLst>
              <a:ext uri="{FF2B5EF4-FFF2-40B4-BE49-F238E27FC236}">
                <a16:creationId xmlns:a16="http://schemas.microsoft.com/office/drawing/2014/main" id="{377F03A6-D855-BB62-3F94-BA6465E9A84E}"/>
              </a:ext>
            </a:extLst>
          </p:cNvPr>
          <p:cNvCxnSpPr>
            <a:endCxn id="440" idx="4"/>
          </p:cNvCxnSpPr>
          <p:nvPr/>
        </p:nvCxnSpPr>
        <p:spPr>
          <a:xfrm flipH="1" flipV="1">
            <a:off x="5814441" y="2116074"/>
            <a:ext cx="7239" cy="22042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连接符: 曲线 531">
            <a:extLst>
              <a:ext uri="{FF2B5EF4-FFF2-40B4-BE49-F238E27FC236}">
                <a16:creationId xmlns:a16="http://schemas.microsoft.com/office/drawing/2014/main" id="{A363F7D1-9242-EBD0-C80D-98EDB3AE9D22}"/>
              </a:ext>
            </a:extLst>
          </p:cNvPr>
          <p:cNvCxnSpPr>
            <a:cxnSpLocks/>
            <a:stCxn id="447" idx="3"/>
          </p:cNvCxnSpPr>
          <p:nvPr/>
        </p:nvCxnSpPr>
        <p:spPr>
          <a:xfrm flipH="1">
            <a:off x="5817489" y="2049780"/>
            <a:ext cx="347852" cy="296760"/>
          </a:xfrm>
          <a:prstGeom prst="curvedConnector3">
            <a:avLst>
              <a:gd name="adj1" fmla="val -8763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736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</TotalTime>
  <Words>173</Words>
  <Application>Microsoft Office PowerPoint</Application>
  <PresentationFormat>宽屏</PresentationFormat>
  <Paragraphs>60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Microsoft YaHei</vt:lpstr>
      <vt:lpstr>Microsoft YaHei</vt:lpstr>
      <vt:lpstr>Arial</vt:lpstr>
      <vt:lpstr>Segoe UI Symbol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晨 路</dc:creator>
  <cp:lastModifiedBy>Ophelia Farrant</cp:lastModifiedBy>
  <cp:revision>40</cp:revision>
  <dcterms:created xsi:type="dcterms:W3CDTF">2026-09-24T14:49:49Z</dcterms:created>
  <dcterms:modified xsi:type="dcterms:W3CDTF">2026-09-25T07:31:54Z</dcterms:modified>
</cp:coreProperties>
</file>