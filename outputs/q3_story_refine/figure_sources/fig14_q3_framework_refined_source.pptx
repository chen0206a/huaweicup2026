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3EC"/>
    <a:srgbClr val="F8C8CB"/>
    <a:srgbClr val="B6C0C8"/>
    <a:srgbClr val="F3F5F7"/>
    <a:srgbClr val="FCE590"/>
    <a:srgbClr val="FBE1E6"/>
    <a:srgbClr val="FDF0EF"/>
    <a:srgbClr val="F08FA3"/>
    <a:srgbClr val="F0E5F3"/>
    <a:srgbClr val="8B5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B2F6E-C13C-405E-9244-31E14638FD1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450CE-6051-4DA8-9C66-AE49E069A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450CE-6051-4DA8-9C66-AE49E069A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388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33268-EBB1-0987-04F9-0629C3BB9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F2EBB7-AB52-E64B-1463-DF50AE2FB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3FED9-18E8-6844-2D55-5B0BDF94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238B9-1BCF-412E-07B9-4FF1A2B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3551-8E33-6AEE-3FD8-015E07F2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8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523EA-A024-D359-A75D-E0160519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A204D-452F-572D-A1E7-EF1DFE2D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10999-EFC6-A82F-983B-B8D907AC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9B806-EFB7-CAA6-E7ED-ECC64EA9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3E86B-9BB6-08C7-6298-2A16AD8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601B5-C8FC-380A-9A81-9AE61763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A2378-ECAE-66DC-8509-C95B8B135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CED9A-4004-401A-4059-BF024230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9C2D-5A12-2935-C4D2-37917A4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D9F3B-51EB-6C93-47A2-B42C6353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28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1A5C0-9CC0-A1A0-086F-5A6ECDC3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62C2-3101-BB9E-3A6D-018B7D8B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ED201-0BD2-3D9E-236C-F097E459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5D645-B7E0-CE0D-49A0-BDD9BBA3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C5762B-184D-5D8D-2381-6EB0999C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8ECC-103B-8C37-3EBE-377F9B83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F3C9A-396A-359A-44BE-5C92198D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8773D-E00F-456A-A9BD-761EC8CC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69A68-8944-4DB0-0CDD-0CD1C48B6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D7DC4A-427E-8673-B88B-94A87F2C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358AD-4517-5533-E6CC-D0BB74DAE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138579-84BE-E4D2-EA98-26EACB0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3D00C3-4137-AC6C-61E7-3009709D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B515B0-6B90-AE67-AB70-E0267DB1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43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2F4DC-3E38-A6C9-D3A4-599907EA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A5FE29-7F9A-FA15-CB9D-D98C63E2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530954-265C-F302-9C35-A0D9C320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10F4A-1BEE-7C1B-0EB7-26138F0F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B6DF67-6CBA-02DC-8FF6-455B0E3B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3A9FF-8650-004F-E9F6-D025DC2E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1DDD16-5C97-EE96-7587-5B286E1E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3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266FD-6153-059A-79DB-B85FBF85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F3C83-305A-C9AF-C940-508C4716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A13E9-6E6F-8E90-7D45-D3EB5C76A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4895F-9AC2-EC43-8606-36EDFAE2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6DFD8-72B1-5B41-1BE7-0A811C40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83C9E-F967-5B78-720D-28B1F9E1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D65C4-65CE-F8FA-DE0F-283DF3D5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0816B-B55A-7782-2BC6-4B68FD148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301984-0FDF-F477-39CC-A1C7C7B5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C5A408-3542-0EBC-FC30-1C8AC68E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D2916-4AB1-0CCC-2799-DBA987DB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2314BA-058B-1E8D-959E-36F64740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6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B687-1133-BF5C-574B-4876B5DE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D0CCF-BD47-2D2B-607A-0E8C55A7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151DD-AD1F-4A14-1AF9-E97E7E9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16EA-2EA3-7383-EA2C-2CE2108A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3F547-1168-CF92-CA1B-18DF013F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68765-5485-4602-D0DD-DA643B2AC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97B1AD-11C8-B14D-F445-626225AAC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C14AE-5313-A20E-B942-F44DC09F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1F598-B4B1-3B1E-7D11-3B49114E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90314-E416-38F8-A4BB-939AC8AD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61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C359F0-6C00-F18B-B47B-CE1622D3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28C29-A14D-658D-521B-8E5932B4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D6ABB-D385-B1BC-3BCA-01672EBAD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1AA5D-31D7-1B58-C809-B5CDF2AF4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F1262-617C-9C24-AE20-9D84F672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loud 90"/>
          <p:cNvSpPr/>
          <p:nvPr/>
        </p:nvSpPr>
        <p:spPr>
          <a:xfrm>
            <a:off x="1882270" y="2988653"/>
            <a:ext cx="1408176" cy="845574"/>
          </a:xfrm>
          <a:prstGeom prst="cloud">
            <a:avLst/>
          </a:prstGeom>
          <a:solidFill>
            <a:srgbClr val="F8C8CB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146304" y="685800"/>
            <a:ext cx="3416470" cy="4997027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A9D3E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39312" y="621792"/>
            <a:ext cx="5439286" cy="5061035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D9C8E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53728" y="722376"/>
            <a:ext cx="2523744" cy="1966637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EFD9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54312" y="2784716"/>
            <a:ext cx="2468519" cy="3003436"/>
          </a:xfrm>
          <a:prstGeom prst="roundRect">
            <a:avLst>
              <a:gd name="adj" fmla="val 9000"/>
            </a:avLst>
          </a:prstGeom>
          <a:noFill/>
          <a:ln w="28575">
            <a:solidFill>
              <a:srgbClr val="BBDD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4984" y="475488"/>
            <a:ext cx="1591056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A9D3E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546074"/>
            <a:ext cx="1536192" cy="2154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303942"/>
                </a:solidFill>
                <a:latin typeface="Microsoft YaHei"/>
              </a:rPr>
              <a:t> 输入样本</a:t>
            </a:r>
            <a:endParaRPr sz="14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0087" y="1066292"/>
            <a:ext cx="630936" cy="2834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303942"/>
                </a:solidFill>
                <a:latin typeface="Microsoft YaHei"/>
              </a:rPr>
              <a:t>文本</a:t>
            </a:r>
            <a:endParaRPr sz="150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018" y="2784716"/>
            <a:ext cx="630936" cy="2308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lang="zh-CN" altLang="en-US" sz="1500" b="1" dirty="0">
                <a:ln/>
                <a:solidFill>
                  <a:srgbClr val="FF99CC"/>
                </a:solidFill>
                <a:latin typeface="微软雅黑"/>
                <a:ea typeface="微软雅黑"/>
                <a:sym typeface="微软雅黑"/>
                <a:rtl val="0"/>
              </a:rPr>
              <a:t>语音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925" y="4318296"/>
            <a:ext cx="630936" cy="2308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r>
              <a:rPr lang="zh-CN" altLang="en-US" sz="1500" b="1" dirty="0">
                <a:ln/>
                <a:solidFill>
                  <a:schemeClr val="accent4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微软雅黑"/>
                <a:rtl val="0"/>
              </a:rPr>
              <a:t>视觉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1389888"/>
            <a:ext cx="1344168" cy="640080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1765" y="1561662"/>
            <a:ext cx="1361301" cy="33855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303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 did not like this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303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at all”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" y="3337560"/>
            <a:ext cx="1179576" cy="0"/>
          </a:xfrm>
          <a:prstGeom prst="line">
            <a:avLst/>
          </a:prstGeom>
          <a:ln w="5080">
            <a:solidFill>
              <a:srgbClr val="C9B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184" y="3307979"/>
            <a:ext cx="0" cy="591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9176" y="3304448"/>
            <a:ext cx="0" cy="6622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9169" y="3304209"/>
            <a:ext cx="0" cy="6670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9162" y="3305093"/>
            <a:ext cx="0" cy="649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9155" y="3308587"/>
            <a:ext cx="0" cy="5794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9148" y="3280734"/>
            <a:ext cx="0" cy="11365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9140" y="3235683"/>
            <a:ext cx="0" cy="20375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9133" y="3247893"/>
            <a:ext cx="0" cy="1793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9126" y="3242338"/>
            <a:ext cx="0" cy="1904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9119" y="3235043"/>
            <a:ext cx="0" cy="20503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9112" y="3251599"/>
            <a:ext cx="0" cy="17192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9104" y="3302117"/>
            <a:ext cx="0" cy="7088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69097" y="3252715"/>
            <a:ext cx="0" cy="1696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9090" y="3084507"/>
            <a:ext cx="0" cy="50610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083" y="3054096"/>
            <a:ext cx="0" cy="566928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9076" y="3195705"/>
            <a:ext cx="0" cy="28370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9069" y="3166562"/>
            <a:ext cx="0" cy="341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9061" y="3189965"/>
            <a:ext cx="0" cy="2951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9054" y="3175480"/>
            <a:ext cx="0" cy="32415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9047" y="3271420"/>
            <a:ext cx="0" cy="13227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9040" y="3269665"/>
            <a:ext cx="0" cy="1357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9033" y="3300269"/>
            <a:ext cx="0" cy="745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9025" y="3256388"/>
            <a:ext cx="0" cy="1623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9018" y="3267562"/>
            <a:ext cx="0" cy="139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9011" y="3288039"/>
            <a:ext cx="0" cy="9904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9004" y="3272879"/>
            <a:ext cx="0" cy="1293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8997" y="3263679"/>
            <a:ext cx="0" cy="14776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68989" y="3274019"/>
            <a:ext cx="0" cy="1270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88982" y="3276563"/>
            <a:ext cx="0" cy="12199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8975" y="3267490"/>
            <a:ext cx="0" cy="14013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968" y="3273477"/>
            <a:ext cx="0" cy="12816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48961" y="3265576"/>
            <a:ext cx="0" cy="14396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8954" y="3282036"/>
            <a:ext cx="0" cy="11104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8946" y="3291821"/>
            <a:ext cx="0" cy="9147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8939" y="3286168"/>
            <a:ext cx="0" cy="10278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8932" y="3285860"/>
            <a:ext cx="0" cy="10339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48925" y="3287831"/>
            <a:ext cx="0" cy="9945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68918" y="3259753"/>
            <a:ext cx="0" cy="15561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88910" y="3276740"/>
            <a:ext cx="0" cy="12163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08903" y="3288819"/>
            <a:ext cx="0" cy="974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8896" y="3294145"/>
            <a:ext cx="0" cy="8682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48889" y="3286194"/>
            <a:ext cx="0" cy="10273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68882" y="3290904"/>
            <a:ext cx="0" cy="9331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88874" y="3293565"/>
            <a:ext cx="0" cy="8798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08867" y="3238401"/>
            <a:ext cx="0" cy="19831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228860" y="3269062"/>
            <a:ext cx="0" cy="13699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48853" y="3303533"/>
            <a:ext cx="0" cy="6805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8846" y="3301646"/>
            <a:ext cx="0" cy="7182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88839" y="3279103"/>
            <a:ext cx="0" cy="11691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308831" y="3282069"/>
            <a:ext cx="0" cy="11098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328824" y="3277450"/>
            <a:ext cx="0" cy="120219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348817" y="3271897"/>
            <a:ext cx="0" cy="13132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68810" y="3281888"/>
            <a:ext cx="0" cy="111343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88803" y="3276907"/>
            <a:ext cx="0" cy="12130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08795" y="3215464"/>
            <a:ext cx="0" cy="24419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28788" y="3168999"/>
            <a:ext cx="0" cy="33712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48781" y="3250774"/>
            <a:ext cx="0" cy="17357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68774" y="3177959"/>
            <a:ext cx="0" cy="319201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488767" y="3240532"/>
            <a:ext cx="0" cy="194055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508760" y="3249701"/>
            <a:ext cx="0" cy="175717"/>
          </a:xfrm>
          <a:prstGeom prst="line">
            <a:avLst/>
          </a:prstGeom>
          <a:ln w="11430">
            <a:solidFill>
              <a:srgbClr val="AA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627632" y="1828800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1795881" y="1768449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Cloud 82"/>
          <p:cNvSpPr/>
          <p:nvPr/>
        </p:nvSpPr>
        <p:spPr>
          <a:xfrm>
            <a:off x="1938528" y="1347909"/>
            <a:ext cx="1408176" cy="850392"/>
          </a:xfrm>
          <a:prstGeom prst="cloud">
            <a:avLst/>
          </a:prstGeom>
          <a:solidFill>
            <a:srgbClr val="B9DCF2"/>
          </a:solidFill>
          <a:ln w="12700">
            <a:solidFill>
              <a:srgbClr val="172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048255" y="1572768"/>
            <a:ext cx="1097280" cy="4846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文本特征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50×768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627632" y="3447287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5400000">
            <a:off x="1795881" y="3386937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loud 86"/>
          <p:cNvSpPr/>
          <p:nvPr/>
        </p:nvSpPr>
        <p:spPr>
          <a:xfrm>
            <a:off x="1938528" y="4549128"/>
            <a:ext cx="1408176" cy="850392"/>
          </a:xfrm>
          <a:prstGeom prst="cloud">
            <a:avLst/>
          </a:prstGeom>
          <a:solidFill>
            <a:srgbClr val="FCE590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048255" y="3191256"/>
            <a:ext cx="1097280" cy="4846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语音特征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50×74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627632" y="5001768"/>
            <a:ext cx="228599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1795881" y="4941417"/>
            <a:ext cx="120700" cy="12070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048255" y="4745736"/>
            <a:ext cx="1097280" cy="4846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视觉特征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303942"/>
                </a:solidFill>
                <a:latin typeface="Microsoft YaHei"/>
              </a:rPr>
              <a:t>50×35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01752" y="2496312"/>
            <a:ext cx="3081528" cy="0"/>
          </a:xfrm>
          <a:prstGeom prst="line">
            <a:avLst/>
          </a:prstGeom>
          <a:ln w="8890">
            <a:solidFill>
              <a:srgbClr val="E3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01752" y="4087368"/>
            <a:ext cx="3081528" cy="0"/>
          </a:xfrm>
          <a:prstGeom prst="line">
            <a:avLst/>
          </a:prstGeom>
          <a:ln w="8890">
            <a:solidFill>
              <a:srgbClr val="E3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474720" y="1819656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5400000">
            <a:off x="3716121" y="1759305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3474720" y="3438144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5400000">
            <a:off x="3716121" y="3377793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>
            <a:off x="3474720" y="5001768"/>
            <a:ext cx="301752" cy="0"/>
          </a:xfrm>
          <a:prstGeom prst="line">
            <a:avLst/>
          </a:prstGeom>
          <a:ln w="22860">
            <a:solidFill>
              <a:srgbClr val="E6A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5400000">
            <a:off x="3716121" y="4941417"/>
            <a:ext cx="120700" cy="120700"/>
          </a:xfrm>
          <a:prstGeom prst="triangle">
            <a:avLst/>
          </a:prstGeom>
          <a:solidFill>
            <a:srgbClr val="E6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4928616" y="475488"/>
            <a:ext cx="2377440" cy="3566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D9C8E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956048" y="515297"/>
            <a:ext cx="2322576" cy="2769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情感预测与解释分析</a:t>
            </a:r>
            <a:endParaRPr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867912" y="947685"/>
            <a:ext cx="2194560" cy="20774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dirty="0">
                <a:solidFill>
                  <a:srgbClr val="2F6FA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情感预测</a:t>
            </a:r>
            <a:endParaRPr sz="1350" b="1" dirty="0">
              <a:solidFill>
                <a:srgbClr val="2F6FA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895344" y="1408176"/>
            <a:ext cx="941832" cy="704088"/>
          </a:xfrm>
          <a:prstGeom prst="roundRect">
            <a:avLst>
              <a:gd name="adj" fmla="val 9000"/>
            </a:avLst>
          </a:prstGeom>
          <a:solidFill>
            <a:srgbClr val="F3F5F7"/>
          </a:solidFill>
          <a:ln w="28575">
            <a:solidFill>
              <a:srgbClr val="B6C0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758184" y="1561662"/>
            <a:ext cx="1224586" cy="38779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 dirty="0" err="1">
                <a:solidFill>
                  <a:srgbClr val="303942"/>
                </a:solidFill>
                <a:latin typeface="Microsoft YaHei"/>
              </a:rPr>
              <a:t>三模态</a:t>
            </a:r>
            <a:endParaRPr sz="1260" b="1" dirty="0">
              <a:solidFill>
                <a:srgbClr val="303942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1" dirty="0" err="1">
                <a:solidFill>
                  <a:srgbClr val="303942"/>
                </a:solidFill>
                <a:latin typeface="Microsoft YaHei"/>
              </a:rPr>
              <a:t>特征</a:t>
            </a:r>
            <a:endParaRPr sz="126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5129784" y="1252728"/>
            <a:ext cx="1399032" cy="448056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28575">
            <a:solidFill>
              <a:srgbClr val="A9D3E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22579" y="1267209"/>
            <a:ext cx="1344168" cy="3931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 dirty="0" err="1">
                <a:solidFill>
                  <a:srgbClr val="303942"/>
                </a:solidFill>
                <a:latin typeface="Microsoft YaHei"/>
              </a:rPr>
              <a:t>掩码均值池化</a:t>
            </a:r>
            <a:endParaRPr sz="123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5129784" y="1856231"/>
            <a:ext cx="1399032" cy="448056"/>
          </a:xfrm>
          <a:prstGeom prst="roundRect">
            <a:avLst>
              <a:gd name="adj" fmla="val 9000"/>
            </a:avLst>
          </a:prstGeom>
          <a:solidFill>
            <a:srgbClr val="F0E5F3"/>
          </a:solidFill>
          <a:ln w="28575">
            <a:solidFill>
              <a:srgbClr val="D9C8E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115652" y="1965067"/>
            <a:ext cx="1416766" cy="18466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注意力</a:t>
            </a: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残差</a:t>
            </a:r>
            <a:r>
              <a:rPr sz="12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池化</a:t>
            </a:r>
            <a:endParaRPr sz="12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6547104" y="1481328"/>
            <a:ext cx="301752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547104" y="2084831"/>
            <a:ext cx="301752" cy="0"/>
          </a:xfrm>
          <a:prstGeom prst="line">
            <a:avLst/>
          </a:prstGeom>
          <a:ln w="1524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48856" y="1481328"/>
            <a:ext cx="0" cy="603503"/>
          </a:xfrm>
          <a:prstGeom prst="line">
            <a:avLst/>
          </a:prstGeom>
          <a:ln w="1397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6720840" y="1636776"/>
            <a:ext cx="256032" cy="256032"/>
          </a:xfrm>
          <a:prstGeom prst="roundRect">
            <a:avLst>
              <a:gd name="adj" fmla="val 9000"/>
            </a:avLst>
          </a:prstGeom>
          <a:solidFill>
            <a:srgbClr val="E2F3E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736912" y="1613916"/>
            <a:ext cx="237744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303942"/>
                </a:solidFill>
                <a:latin typeface="Microsoft YaHei"/>
              </a:rPr>
              <a:t>＋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269757" y="1437132"/>
            <a:ext cx="1508760" cy="749808"/>
          </a:xfrm>
          <a:prstGeom prst="roundRect">
            <a:avLst>
              <a:gd name="adj" fmla="val 9000"/>
            </a:avLst>
          </a:prstGeom>
          <a:solidFill>
            <a:srgbClr val="E2F3EC"/>
          </a:solidFill>
          <a:ln w="28575">
            <a:solidFill>
              <a:srgbClr val="D4DDE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7297190" y="1674911"/>
            <a:ext cx="1500447" cy="30777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融合表示</a:t>
            </a:r>
            <a:r>
              <a:rPr sz="20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sz="2000" b="1" dirty="0">
                <a:solidFill>
                  <a:srgbClr val="30394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867912" y="2542032"/>
            <a:ext cx="4992624" cy="0"/>
          </a:xfrm>
          <a:prstGeom prst="line">
            <a:avLst/>
          </a:prstGeom>
          <a:ln w="9525">
            <a:solidFill>
              <a:srgbClr val="D4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105139" y="2653911"/>
            <a:ext cx="2377440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2F6FAE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预测解释分析</a:t>
            </a:r>
            <a:r>
              <a:rPr lang="zh-CN" altLang="en-US" sz="1600" b="1" dirty="0">
                <a:solidFill>
                  <a:srgbClr val="2F6FAE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endParaRPr sz="1600" b="1" dirty="0">
              <a:solidFill>
                <a:srgbClr val="2F6FAE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3849624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886200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0" b="1" dirty="0" err="1">
                <a:solidFill>
                  <a:srgbClr val="303942"/>
                </a:solidFill>
                <a:latin typeface="Microsoft YaHei"/>
              </a:rPr>
              <a:t>模态</a:t>
            </a:r>
            <a:r>
              <a:rPr lang="zh-CN" altLang="en-US" sz="1190" b="1" dirty="0">
                <a:solidFill>
                  <a:srgbClr val="303942"/>
                </a:solidFill>
                <a:latin typeface="Microsoft YaHei"/>
              </a:rPr>
              <a:t>组合测试</a:t>
            </a:r>
            <a:endParaRPr sz="119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5120640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157216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计算模态</a:t>
            </a:r>
            <a:r>
              <a:rPr sz="12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贡献</a:t>
            </a:r>
            <a:endParaRPr sz="12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6391656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28232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90" b="1" dirty="0">
                <a:solidFill>
                  <a:srgbClr val="303942"/>
                </a:solidFill>
                <a:latin typeface="Microsoft YaHei"/>
              </a:rPr>
              <a:t>分析模态</a:t>
            </a:r>
            <a:r>
              <a:rPr sz="1190" b="1" dirty="0" err="1">
                <a:solidFill>
                  <a:srgbClr val="303942"/>
                </a:solidFill>
                <a:latin typeface="Microsoft YaHei"/>
              </a:rPr>
              <a:t>交互</a:t>
            </a:r>
            <a:endParaRPr sz="119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7662672" y="3236976"/>
            <a:ext cx="1170432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699248" y="4356992"/>
            <a:ext cx="1097280" cy="18312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90" b="1" dirty="0">
                <a:solidFill>
                  <a:srgbClr val="303942"/>
                </a:solidFill>
                <a:latin typeface="Microsoft YaHei"/>
              </a:rPr>
              <a:t>定位关键区间</a:t>
            </a:r>
            <a:endParaRPr sz="1190" b="1" dirty="0">
              <a:solidFill>
                <a:srgbClr val="303942"/>
              </a:solidFill>
              <a:latin typeface="Microsoft YaHei"/>
            </a:endParaRPr>
          </a:p>
        </p:txBody>
      </p:sp>
      <p:cxnSp>
        <p:nvCxnSpPr>
          <p:cNvPr id="157" name="Connector 156"/>
          <p:cNvCxnSpPr/>
          <p:nvPr/>
        </p:nvCxnSpPr>
        <p:spPr>
          <a:xfrm>
            <a:off x="6739128" y="3611880"/>
            <a:ext cx="384048" cy="0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57416" y="3657600"/>
            <a:ext cx="173736" cy="310896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6931152" y="3657600"/>
            <a:ext cx="192024" cy="310896"/>
          </a:xfrm>
          <a:prstGeom prst="line">
            <a:avLst/>
          </a:prstGeom>
          <a:ln w="11430">
            <a:solidFill>
              <a:srgbClr val="68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7744968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844637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944307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043976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143646" y="3685032"/>
            <a:ext cx="89611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243316" y="3685032"/>
            <a:ext cx="89611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342985" y="3685032"/>
            <a:ext cx="89611" cy="310896"/>
          </a:xfrm>
          <a:prstGeom prst="rect">
            <a:avLst/>
          </a:prstGeom>
          <a:solidFill>
            <a:srgbClr val="C00000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442655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542324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8641994" y="3685032"/>
            <a:ext cx="89611" cy="310896"/>
          </a:xfrm>
          <a:prstGeom prst="rect">
            <a:avLst/>
          </a:prstGeom>
          <a:solidFill>
            <a:srgbClr val="B6C0C8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9665208" y="539496"/>
            <a:ext cx="1819656" cy="365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EFD98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692640" y="613115"/>
            <a:ext cx="1764792" cy="2185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预测与</a:t>
            </a:r>
            <a:r>
              <a:rPr sz="1400" b="1" dirty="0" err="1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zh-CN" altLang="en-US" sz="14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sz="1400" b="1" dirty="0">
              <a:solidFill>
                <a:srgbClr val="30394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7" name="Rounded Rectangle 176"/>
          <p:cNvSpPr/>
          <p:nvPr/>
        </p:nvSpPr>
        <p:spPr>
          <a:xfrm>
            <a:off x="9746118" y="1157732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9762066" y="1183317"/>
            <a:ext cx="1399032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 dirty="0" err="1">
                <a:solidFill>
                  <a:srgbClr val="303942"/>
                </a:solidFill>
                <a:latin typeface="Microsoft YaHei"/>
              </a:rPr>
              <a:t>类别</a:t>
            </a:r>
            <a:r>
              <a:rPr sz="1060" b="0" dirty="0">
                <a:solidFill>
                  <a:srgbClr val="303942"/>
                </a:solidFill>
                <a:latin typeface="Microsoft YaHei"/>
              </a:rPr>
              <a:t> · </a:t>
            </a:r>
            <a:r>
              <a:rPr sz="1060" b="0" dirty="0" err="1">
                <a:solidFill>
                  <a:srgbClr val="303942"/>
                </a:solidFill>
                <a:latin typeface="Microsoft YaHei"/>
              </a:rPr>
              <a:t>情感强度</a:t>
            </a:r>
            <a:endParaRPr sz="1060" b="0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79" name="Rounded Rectangle 178"/>
          <p:cNvSpPr/>
          <p:nvPr/>
        </p:nvSpPr>
        <p:spPr>
          <a:xfrm>
            <a:off x="9354312" y="1682495"/>
            <a:ext cx="667512" cy="37490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0" name="TextBox 179"/>
          <p:cNvSpPr txBox="1"/>
          <p:nvPr/>
        </p:nvSpPr>
        <p:spPr>
          <a:xfrm>
            <a:off x="9354312" y="1768449"/>
            <a:ext cx="684108" cy="18004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170" b="1" dirty="0">
                <a:solidFill>
                  <a:srgbClr val="303942"/>
                </a:solidFill>
                <a:latin typeface="Microsoft YaHei"/>
              </a:rPr>
              <a:t>模态贡献</a:t>
            </a:r>
            <a:endParaRPr sz="117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10113263" y="1682495"/>
            <a:ext cx="1557189" cy="37490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10059415" y="1807588"/>
            <a:ext cx="1468797" cy="16312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60" b="1" dirty="0">
                <a:solidFill>
                  <a:srgbClr val="303942"/>
                </a:solidFill>
                <a:latin typeface="Microsoft YaHei"/>
              </a:rPr>
              <a:t>确定</a:t>
            </a:r>
            <a:r>
              <a:rPr sz="1060" b="1" dirty="0" err="1">
                <a:solidFill>
                  <a:srgbClr val="303942"/>
                </a:solidFill>
                <a:latin typeface="Microsoft YaHei"/>
              </a:rPr>
              <a:t>主导模态</a:t>
            </a:r>
            <a:endParaRPr sz="106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9748181" y="2198301"/>
            <a:ext cx="1453896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775613" y="2257671"/>
            <a:ext cx="1399032" cy="16312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 dirty="0" err="1">
                <a:solidFill>
                  <a:srgbClr val="303942"/>
                </a:solidFill>
                <a:latin typeface="Microsoft YaHei"/>
              </a:rPr>
              <a:t>关键特征</a:t>
            </a:r>
            <a:r>
              <a:rPr lang="zh-CN" altLang="en-US" sz="1060" b="0" dirty="0">
                <a:solidFill>
                  <a:srgbClr val="303942"/>
                </a:solidFill>
                <a:latin typeface="Microsoft YaHei"/>
              </a:rPr>
              <a:t>区间</a:t>
            </a:r>
            <a:endParaRPr sz="1060" b="0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91" name="Rounded Rectangle 190"/>
          <p:cNvSpPr/>
          <p:nvPr/>
        </p:nvSpPr>
        <p:spPr>
          <a:xfrm>
            <a:off x="9420284" y="2872708"/>
            <a:ext cx="2322576" cy="3749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BB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9454715" y="2935145"/>
            <a:ext cx="2267712" cy="20621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40" b="1" dirty="0">
                <a:solidFill>
                  <a:srgbClr val="303942"/>
                </a:solidFill>
                <a:latin typeface="Microsoft YaHei"/>
              </a:rPr>
              <a:t>输入来源回溯</a:t>
            </a:r>
            <a:endParaRPr sz="1340" b="1" dirty="0">
              <a:solidFill>
                <a:srgbClr val="303942"/>
              </a:solidFill>
              <a:latin typeface="Microsoft YaHei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9472207" y="3337560"/>
            <a:ext cx="979046" cy="435188"/>
          </a:xfrm>
          <a:prstGeom prst="roundRect">
            <a:avLst>
              <a:gd name="adj" fmla="val 9000"/>
            </a:avLst>
          </a:prstGeom>
          <a:solidFill>
            <a:srgbClr val="EDF7EF"/>
          </a:solidFill>
          <a:ln w="12700">
            <a:solidFill>
              <a:srgbClr val="B8D7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9544343" y="3462944"/>
            <a:ext cx="927230" cy="18466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46765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原文字符级</a:t>
            </a:r>
            <a:r>
              <a:rPr lang="zh-CN" altLang="en-US" sz="1200" b="1" dirty="0">
                <a:solidFill>
                  <a:srgbClr val="46765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endParaRPr sz="1200" b="1" dirty="0">
              <a:solidFill>
                <a:srgbClr val="46765A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5" name="Rounded Rectangle 194"/>
          <p:cNvSpPr/>
          <p:nvPr/>
        </p:nvSpPr>
        <p:spPr>
          <a:xfrm>
            <a:off x="10722547" y="3337559"/>
            <a:ext cx="1000320" cy="448734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 w="12700">
            <a:solidFill>
              <a:srgbClr val="D4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0723226" y="3454515"/>
            <a:ext cx="1046268" cy="17081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0" b="0" dirty="0" err="1">
                <a:solidFill>
                  <a:srgbClr val="68737D"/>
                </a:solidFill>
                <a:latin typeface="Microsoft YaHei"/>
              </a:rPr>
              <a:t>语音/视觉</a:t>
            </a:r>
            <a:r>
              <a:rPr sz="1110" b="0" dirty="0">
                <a:solidFill>
                  <a:srgbClr val="68737D"/>
                </a:solidFill>
                <a:latin typeface="Microsoft YaHei"/>
              </a:rPr>
              <a:t/>
            </a:r>
            <a:r>
              <a:rPr sz="1110" b="0" dirty="0" err="1">
                <a:solidFill>
                  <a:srgbClr val="68737D"/>
                </a:solidFill>
                <a:latin typeface="Microsoft YaHei"/>
              </a:rPr>
              <a:t/>
            </a:r>
            <a:r>
              <a:rPr lang="zh-CN" altLang="en-US" sz="1110" b="0" dirty="0">
                <a:solidFill>
                  <a:srgbClr val="68737D"/>
                </a:solidFill>
                <a:latin typeface="Microsoft YaHei"/>
              </a:rPr>
              <a:t/>
            </a:r>
            <a:endParaRPr sz="1110" b="0" dirty="0">
              <a:solidFill>
                <a:srgbClr val="68737D"/>
              </a:solidFill>
              <a:latin typeface="Microsoft YaHei"/>
            </a:endParaRPr>
          </a:p>
        </p:txBody>
      </p:sp>
      <p:sp>
        <p:nvSpPr>
          <p:cNvPr id="198" name="Rounded Rectangle 197"/>
          <p:cNvSpPr/>
          <p:nvPr/>
        </p:nvSpPr>
        <p:spPr>
          <a:xfrm>
            <a:off x="9523476" y="5257800"/>
            <a:ext cx="2185416" cy="429768"/>
          </a:xfrm>
          <a:prstGeom prst="roundRect">
            <a:avLst>
              <a:gd name="adj" fmla="val 9000"/>
            </a:avLst>
          </a:prstGeom>
          <a:solidFill>
            <a:srgbClr val="ED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9555480" y="5379671"/>
            <a:ext cx="2130552" cy="16773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90" b="0" dirty="0">
                <a:solidFill>
                  <a:srgbClr val="303942"/>
                </a:solidFill>
                <a:latin typeface="Microsoft YaHei"/>
              </a:rPr>
              <a:t>输出解释卡</a:t>
            </a:r>
            <a:endParaRPr sz="1090" b="0" dirty="0">
              <a:solidFill>
                <a:srgbClr val="303942"/>
              </a:solidFill>
              <a:latin typeface="Microsoft YaHei"/>
            </a:endParaRPr>
          </a:p>
        </p:txBody>
      </p:sp>
      <p:pic>
        <p:nvPicPr>
          <p:cNvPr id="204" name="图片 203">
            <a:extLst>
              <a:ext uri="{FF2B5EF4-FFF2-40B4-BE49-F238E27FC236}">
                <a16:creationId xmlns:a16="http://schemas.microsoft.com/office/drawing/2014/main" id="{A29BB80F-74D9-03B7-6B75-CA4AD48A5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44" y="4718685"/>
            <a:ext cx="550848" cy="776478"/>
          </a:xfrm>
          <a:prstGeom prst="rect">
            <a:avLst/>
          </a:prstGeom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A1081D61-B743-0B19-1871-05F90A686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6" y="4680187"/>
            <a:ext cx="550848" cy="776478"/>
          </a:xfrm>
          <a:prstGeom prst="rect">
            <a:avLst/>
          </a:prstGeom>
        </p:spPr>
      </p:pic>
      <p:pic>
        <p:nvPicPr>
          <p:cNvPr id="206" name="图片 205">
            <a:extLst>
              <a:ext uri="{FF2B5EF4-FFF2-40B4-BE49-F238E27FC236}">
                <a16:creationId xmlns:a16="http://schemas.microsoft.com/office/drawing/2014/main" id="{BC164CCF-7063-B5CD-0E4B-B9F26ED6A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85" y="4704122"/>
            <a:ext cx="621792" cy="775320"/>
          </a:xfrm>
          <a:prstGeom prst="rect">
            <a:avLst/>
          </a:pr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89D55E36-2C61-CA12-2E5B-AEF2386F92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853" y="4702556"/>
            <a:ext cx="655686" cy="774190"/>
          </a:xfrm>
          <a:prstGeom prst="rect">
            <a:avLst/>
          </a:prstGeom>
        </p:spPr>
      </p:pic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1C03FDF4-9D0D-C215-34CF-720AF89AEC5C}"/>
              </a:ext>
            </a:extLst>
          </p:cNvPr>
          <p:cNvSpPr/>
          <p:nvPr/>
        </p:nvSpPr>
        <p:spPr>
          <a:xfrm>
            <a:off x="4675909" y="4904509"/>
            <a:ext cx="3241964" cy="505691"/>
          </a:xfrm>
          <a:prstGeom prst="roundRect">
            <a:avLst/>
          </a:prstGeom>
          <a:solidFill>
            <a:srgbClr val="FDF0EF"/>
          </a:solidFill>
          <a:ln w="28575">
            <a:solidFill>
              <a:srgbClr val="FBE1E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8C540F66-E0B8-2911-87EB-35171A31C37D}"/>
              </a:ext>
            </a:extLst>
          </p:cNvPr>
          <p:cNvSpPr txBox="1"/>
          <p:nvPr/>
        </p:nvSpPr>
        <p:spPr>
          <a:xfrm>
            <a:off x="4812653" y="4974243"/>
            <a:ext cx="3075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主导模态  </a:t>
            </a:r>
            <a:r>
              <a:rPr lang="en-US" altLang="zh-CN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  </a:t>
            </a: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主要交互  </a:t>
            </a:r>
            <a:r>
              <a:rPr lang="en-US" altLang="zh-CN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  </a:t>
            </a:r>
            <a:r>
              <a:rPr lang="zh-CN" altLang="en-US" sz="1200" b="1" dirty="0">
                <a:solidFill>
                  <a:srgbClr val="30394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关键区间</a:t>
            </a:r>
          </a:p>
          <a:p>
            <a:endParaRPr lang="zh-CN" altLang="en-US" dirty="0"/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13DDF9DB-7ABD-369E-53CB-CFB7394F24AB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6974656" y="1730939"/>
            <a:ext cx="271271" cy="10993"/>
          </a:xfrm>
          <a:prstGeom prst="straightConnector1">
            <a:avLst/>
          </a:prstGeom>
          <a:ln w="28575">
            <a:solidFill>
              <a:srgbClr val="B6C0C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箭头: 右 217">
            <a:extLst>
              <a:ext uri="{FF2B5EF4-FFF2-40B4-BE49-F238E27FC236}">
                <a16:creationId xmlns:a16="http://schemas.microsoft.com/office/drawing/2014/main" id="{C9B2C939-4265-846B-3389-7A68CA743715}"/>
              </a:ext>
            </a:extLst>
          </p:cNvPr>
          <p:cNvSpPr/>
          <p:nvPr/>
        </p:nvSpPr>
        <p:spPr>
          <a:xfrm>
            <a:off x="4946073" y="3834227"/>
            <a:ext cx="235527" cy="21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箭头: 右 218">
            <a:extLst>
              <a:ext uri="{FF2B5EF4-FFF2-40B4-BE49-F238E27FC236}">
                <a16:creationId xmlns:a16="http://schemas.microsoft.com/office/drawing/2014/main" id="{611AACDD-B757-1A9B-F8D1-4EB80248C033}"/>
              </a:ext>
            </a:extLst>
          </p:cNvPr>
          <p:cNvSpPr/>
          <p:nvPr/>
        </p:nvSpPr>
        <p:spPr>
          <a:xfrm>
            <a:off x="6205036" y="3834227"/>
            <a:ext cx="235527" cy="21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箭头: 右 219">
            <a:extLst>
              <a:ext uri="{FF2B5EF4-FFF2-40B4-BE49-F238E27FC236}">
                <a16:creationId xmlns:a16="http://schemas.microsoft.com/office/drawing/2014/main" id="{F23F9A94-7C24-EFAF-9D51-7FD01D49FEBB}"/>
              </a:ext>
            </a:extLst>
          </p:cNvPr>
          <p:cNvSpPr/>
          <p:nvPr/>
        </p:nvSpPr>
        <p:spPr>
          <a:xfrm>
            <a:off x="7419109" y="3834227"/>
            <a:ext cx="235527" cy="218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箭头: 右 220">
            <a:extLst>
              <a:ext uri="{FF2B5EF4-FFF2-40B4-BE49-F238E27FC236}">
                <a16:creationId xmlns:a16="http://schemas.microsoft.com/office/drawing/2014/main" id="{D2833632-B9CB-7E07-10CA-0C0B9CCC036B}"/>
              </a:ext>
            </a:extLst>
          </p:cNvPr>
          <p:cNvSpPr/>
          <p:nvPr/>
        </p:nvSpPr>
        <p:spPr>
          <a:xfrm>
            <a:off x="8866909" y="1730939"/>
            <a:ext cx="386819" cy="299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14B310ED-B36B-876F-B365-C52C4CD90DCD}"/>
              </a:ext>
            </a:extLst>
          </p:cNvPr>
          <p:cNvCxnSpPr>
            <a:cxnSpLocks/>
          </p:cNvCxnSpPr>
          <p:nvPr/>
        </p:nvCxnSpPr>
        <p:spPr>
          <a:xfrm>
            <a:off x="4045527" y="2133600"/>
            <a:ext cx="0" cy="120395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>
            <a:extLst>
              <a:ext uri="{FF2B5EF4-FFF2-40B4-BE49-F238E27FC236}">
                <a16:creationId xmlns:a16="http://schemas.microsoft.com/office/drawing/2014/main" id="{405A486E-2ED8-9371-D594-03A9B9FAA2F0}"/>
              </a:ext>
            </a:extLst>
          </p:cNvPr>
          <p:cNvSpPr txBox="1"/>
          <p:nvPr/>
        </p:nvSpPr>
        <p:spPr>
          <a:xfrm>
            <a:off x="5298740" y="2865542"/>
            <a:ext cx="277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不同模态组合与遮挡输入均复用同一预测模型</a:t>
            </a:r>
            <a:endParaRPr lang="zh-CN" altLang="en-US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76A4CB14-207C-B244-F456-B1DBA8D40439}"/>
              </a:ext>
            </a:extLst>
          </p:cNvPr>
          <p:cNvSpPr/>
          <p:nvPr/>
        </p:nvSpPr>
        <p:spPr>
          <a:xfrm>
            <a:off x="8719497" y="1017247"/>
            <a:ext cx="671945" cy="6650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B6C0C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6C90B609-21B8-5F7A-751A-85F898A4CC20}"/>
              </a:ext>
            </a:extLst>
          </p:cNvPr>
          <p:cNvSpPr txBox="1"/>
          <p:nvPr/>
        </p:nvSpPr>
        <p:spPr>
          <a:xfrm>
            <a:off x="8739586" y="1114275"/>
            <a:ext cx="644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回归预测</a:t>
            </a:r>
          </a:p>
        </p:txBody>
      </p:sp>
      <p:sp>
        <p:nvSpPr>
          <p:cNvPr id="232" name="箭头: 右 231">
            <a:extLst>
              <a:ext uri="{FF2B5EF4-FFF2-40B4-BE49-F238E27FC236}">
                <a16:creationId xmlns:a16="http://schemas.microsoft.com/office/drawing/2014/main" id="{6E0ECD60-5BCB-8FBF-55C0-0A776DA93FBE}"/>
              </a:ext>
            </a:extLst>
          </p:cNvPr>
          <p:cNvSpPr/>
          <p:nvPr/>
        </p:nvSpPr>
        <p:spPr>
          <a:xfrm rot="5400000">
            <a:off x="10329310" y="2486021"/>
            <a:ext cx="400012" cy="381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云形 232">
            <a:extLst>
              <a:ext uri="{FF2B5EF4-FFF2-40B4-BE49-F238E27FC236}">
                <a16:creationId xmlns:a16="http://schemas.microsoft.com/office/drawing/2014/main" id="{D582CBC9-7A32-FCEE-2E98-5D0F0E8CE4DC}"/>
              </a:ext>
            </a:extLst>
          </p:cNvPr>
          <p:cNvSpPr/>
          <p:nvPr/>
        </p:nvSpPr>
        <p:spPr>
          <a:xfrm>
            <a:off x="5188527" y="3479414"/>
            <a:ext cx="1004455" cy="838882"/>
          </a:xfrm>
          <a:prstGeom prst="cloud">
            <a:avLst/>
          </a:prstGeom>
          <a:solidFill>
            <a:srgbClr val="F3F5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B7C1992A-0D4B-E8A1-0DE6-98D4713D0BD4}"/>
              </a:ext>
            </a:extLst>
          </p:cNvPr>
          <p:cNvSpPr/>
          <p:nvPr/>
        </p:nvSpPr>
        <p:spPr>
          <a:xfrm rot="20269758">
            <a:off x="5370326" y="3627251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7724637B-A157-4E0C-DA14-D609D9925907}"/>
              </a:ext>
            </a:extLst>
          </p:cNvPr>
          <p:cNvSpPr/>
          <p:nvPr/>
        </p:nvSpPr>
        <p:spPr>
          <a:xfrm rot="704267">
            <a:off x="5737776" y="3621024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E5CA4136-19E6-C018-CBD1-8641E2F1BBC8}"/>
              </a:ext>
            </a:extLst>
          </p:cNvPr>
          <p:cNvSpPr/>
          <p:nvPr/>
        </p:nvSpPr>
        <p:spPr>
          <a:xfrm>
            <a:off x="5571544" y="3827612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7470F415-BD7D-5A7C-876E-7E901A104F57}"/>
              </a:ext>
            </a:extLst>
          </p:cNvPr>
          <p:cNvSpPr/>
          <p:nvPr/>
        </p:nvSpPr>
        <p:spPr>
          <a:xfrm rot="1092927">
            <a:off x="5869090" y="3723263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: 圆角 237">
            <a:extLst>
              <a:ext uri="{FF2B5EF4-FFF2-40B4-BE49-F238E27FC236}">
                <a16:creationId xmlns:a16="http://schemas.microsoft.com/office/drawing/2014/main" id="{3FAABC76-5982-3C77-177A-D95C60BB1DCA}"/>
              </a:ext>
            </a:extLst>
          </p:cNvPr>
          <p:cNvSpPr/>
          <p:nvPr/>
        </p:nvSpPr>
        <p:spPr>
          <a:xfrm rot="20503541">
            <a:off x="5412194" y="4036660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96E8DB15-B8D9-D42B-2B2E-179080B634DA}"/>
              </a:ext>
            </a:extLst>
          </p:cNvPr>
          <p:cNvSpPr/>
          <p:nvPr/>
        </p:nvSpPr>
        <p:spPr>
          <a:xfrm rot="20537721">
            <a:off x="5744705" y="3981242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0C5C95CD-7C03-1235-7948-E8015212E8B5}"/>
              </a:ext>
            </a:extLst>
          </p:cNvPr>
          <p:cNvSpPr/>
          <p:nvPr/>
        </p:nvSpPr>
        <p:spPr>
          <a:xfrm rot="1092927">
            <a:off x="5322344" y="3854193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7D1730F8-7D9C-85E5-DBCE-05EC8A2678F9}"/>
              </a:ext>
            </a:extLst>
          </p:cNvPr>
          <p:cNvSpPr/>
          <p:nvPr/>
        </p:nvSpPr>
        <p:spPr>
          <a:xfrm rot="20269758">
            <a:off x="6638019" y="3508169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323866E0-B9BD-5788-5595-0BBEA934C99D}"/>
              </a:ext>
            </a:extLst>
          </p:cNvPr>
          <p:cNvSpPr/>
          <p:nvPr/>
        </p:nvSpPr>
        <p:spPr>
          <a:xfrm rot="19932480">
            <a:off x="7137107" y="3551653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: 圆角 242">
            <a:extLst>
              <a:ext uri="{FF2B5EF4-FFF2-40B4-BE49-F238E27FC236}">
                <a16:creationId xmlns:a16="http://schemas.microsoft.com/office/drawing/2014/main" id="{4721311F-C8CC-C86F-13F5-179E7F1F4406}"/>
              </a:ext>
            </a:extLst>
          </p:cNvPr>
          <p:cNvSpPr/>
          <p:nvPr/>
        </p:nvSpPr>
        <p:spPr>
          <a:xfrm rot="20537721">
            <a:off x="6894632" y="3981243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6CE1E41D-E414-6AB7-FC8A-4BECF077B771}"/>
              </a:ext>
            </a:extLst>
          </p:cNvPr>
          <p:cNvSpPr/>
          <p:nvPr/>
        </p:nvSpPr>
        <p:spPr>
          <a:xfrm rot="810308">
            <a:off x="3995506" y="3606281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CBF80737-23E6-08F2-AC8C-BC3F02454A06}"/>
              </a:ext>
            </a:extLst>
          </p:cNvPr>
          <p:cNvSpPr/>
          <p:nvPr/>
        </p:nvSpPr>
        <p:spPr>
          <a:xfrm>
            <a:off x="4205088" y="3635588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26C22A85-9512-3AC4-296E-ADD2A73FD94E}"/>
              </a:ext>
            </a:extLst>
          </p:cNvPr>
          <p:cNvSpPr/>
          <p:nvPr/>
        </p:nvSpPr>
        <p:spPr>
          <a:xfrm rot="704267">
            <a:off x="4380237" y="3631057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7ABA001C-74C5-E698-57BA-B80B0DA0935E}"/>
              </a:ext>
            </a:extLst>
          </p:cNvPr>
          <p:cNvSpPr/>
          <p:nvPr/>
        </p:nvSpPr>
        <p:spPr>
          <a:xfrm rot="704267">
            <a:off x="4573680" y="3628968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椭圆 247">
            <a:extLst>
              <a:ext uri="{FF2B5EF4-FFF2-40B4-BE49-F238E27FC236}">
                <a16:creationId xmlns:a16="http://schemas.microsoft.com/office/drawing/2014/main" id="{22E60251-1D80-26DA-AF4A-E5840E7594F6}"/>
              </a:ext>
            </a:extLst>
          </p:cNvPr>
          <p:cNvSpPr/>
          <p:nvPr/>
        </p:nvSpPr>
        <p:spPr>
          <a:xfrm rot="16552843">
            <a:off x="4720716" y="3635588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F747BA2A-F024-7400-F443-F714C2EC67F1}"/>
              </a:ext>
            </a:extLst>
          </p:cNvPr>
          <p:cNvSpPr/>
          <p:nvPr/>
        </p:nvSpPr>
        <p:spPr>
          <a:xfrm rot="704267">
            <a:off x="4033665" y="3974315"/>
            <a:ext cx="89192" cy="107950"/>
          </a:xfrm>
          <a:prstGeom prst="roundRect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6DD1D9BF-098F-FCAC-F4A1-140E7A9600B5}"/>
              </a:ext>
            </a:extLst>
          </p:cNvPr>
          <p:cNvSpPr/>
          <p:nvPr/>
        </p:nvSpPr>
        <p:spPr>
          <a:xfrm rot="1092927">
            <a:off x="4193200" y="3971957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A22FB7DC-724A-341F-221C-FCF0CA330ED3}"/>
              </a:ext>
            </a:extLst>
          </p:cNvPr>
          <p:cNvSpPr/>
          <p:nvPr/>
        </p:nvSpPr>
        <p:spPr>
          <a:xfrm rot="1092927">
            <a:off x="4426813" y="3978885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3C6BB18B-8774-C727-F0A4-D06D689318E7}"/>
              </a:ext>
            </a:extLst>
          </p:cNvPr>
          <p:cNvSpPr/>
          <p:nvPr/>
        </p:nvSpPr>
        <p:spPr>
          <a:xfrm>
            <a:off x="4677926" y="3986940"/>
            <a:ext cx="118630" cy="98888"/>
          </a:xfrm>
          <a:prstGeom prst="ellipse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箭头: 下 252">
            <a:extLst>
              <a:ext uri="{FF2B5EF4-FFF2-40B4-BE49-F238E27FC236}">
                <a16:creationId xmlns:a16="http://schemas.microsoft.com/office/drawing/2014/main" id="{65256BAE-EC87-9D38-D57B-82A1D833293C}"/>
              </a:ext>
            </a:extLst>
          </p:cNvPr>
          <p:cNvSpPr/>
          <p:nvPr/>
        </p:nvSpPr>
        <p:spPr>
          <a:xfrm>
            <a:off x="10430933" y="4822613"/>
            <a:ext cx="406400" cy="406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菱形 265">
            <a:extLst>
              <a:ext uri="{FF2B5EF4-FFF2-40B4-BE49-F238E27FC236}">
                <a16:creationId xmlns:a16="http://schemas.microsoft.com/office/drawing/2014/main" id="{556EEA01-0B9E-CA09-124E-37016E1549DB}"/>
              </a:ext>
            </a:extLst>
          </p:cNvPr>
          <p:cNvSpPr/>
          <p:nvPr/>
        </p:nvSpPr>
        <p:spPr>
          <a:xfrm rot="810308">
            <a:off x="11300546" y="1812252"/>
            <a:ext cx="152400" cy="153793"/>
          </a:xfrm>
          <a:prstGeom prst="diamond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箭头: 下 272">
            <a:extLst>
              <a:ext uri="{FF2B5EF4-FFF2-40B4-BE49-F238E27FC236}">
                <a16:creationId xmlns:a16="http://schemas.microsoft.com/office/drawing/2014/main" id="{19C78CBF-D9F3-C27C-D7A5-690CD2B2749D}"/>
              </a:ext>
            </a:extLst>
          </p:cNvPr>
          <p:cNvSpPr/>
          <p:nvPr/>
        </p:nvSpPr>
        <p:spPr>
          <a:xfrm>
            <a:off x="9956800" y="3786294"/>
            <a:ext cx="155070" cy="6231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B2650C4B-A82A-7803-56F4-01111E50BFB6}"/>
              </a:ext>
            </a:extLst>
          </p:cNvPr>
          <p:cNvSpPr txBox="1"/>
          <p:nvPr/>
        </p:nvSpPr>
        <p:spPr>
          <a:xfrm>
            <a:off x="9550400" y="3918186"/>
            <a:ext cx="5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特征区间</a:t>
            </a:r>
          </a:p>
        </p:txBody>
      </p:sp>
      <p:sp>
        <p:nvSpPr>
          <p:cNvPr id="275" name="箭头: 下 274">
            <a:extLst>
              <a:ext uri="{FF2B5EF4-FFF2-40B4-BE49-F238E27FC236}">
                <a16:creationId xmlns:a16="http://schemas.microsoft.com/office/drawing/2014/main" id="{70C2A6DA-EA12-184A-FB48-8D6474170C6B}"/>
              </a:ext>
            </a:extLst>
          </p:cNvPr>
          <p:cNvSpPr/>
          <p:nvPr/>
        </p:nvSpPr>
        <p:spPr>
          <a:xfrm>
            <a:off x="10979574" y="3779520"/>
            <a:ext cx="169333" cy="6366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D8750D0A-AE9D-C863-3932-39A6AAAD29E6}"/>
              </a:ext>
            </a:extLst>
          </p:cNvPr>
          <p:cNvSpPr txBox="1"/>
          <p:nvPr/>
        </p:nvSpPr>
        <p:spPr>
          <a:xfrm>
            <a:off x="11067626" y="3918186"/>
            <a:ext cx="709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未对齐特征行级</a:t>
            </a:r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9D167ACF-6DF7-954D-E2A3-826C13749326}"/>
              </a:ext>
            </a:extLst>
          </p:cNvPr>
          <p:cNvSpPr/>
          <p:nvPr/>
        </p:nvSpPr>
        <p:spPr>
          <a:xfrm>
            <a:off x="9530080" y="4436534"/>
            <a:ext cx="860213" cy="460586"/>
          </a:xfrm>
          <a:prstGeom prst="ellipse">
            <a:avLst/>
          </a:prstGeom>
          <a:solidFill>
            <a:srgbClr val="E2F3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42258F8A-CA7D-BB55-F6B1-906C49497291}"/>
              </a:ext>
            </a:extLst>
          </p:cNvPr>
          <p:cNvSpPr/>
          <p:nvPr/>
        </p:nvSpPr>
        <p:spPr>
          <a:xfrm>
            <a:off x="10810240" y="4422987"/>
            <a:ext cx="853440" cy="48090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797FA740-3CEA-0784-7C37-16A06E6C7064}"/>
              </a:ext>
            </a:extLst>
          </p:cNvPr>
          <p:cNvSpPr txBox="1"/>
          <p:nvPr/>
        </p:nvSpPr>
        <p:spPr>
          <a:xfrm>
            <a:off x="9699413" y="4549128"/>
            <a:ext cx="64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原文片段</a:t>
            </a:r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86CB90BE-C819-C3FA-9739-9C89E3EEAC74}"/>
              </a:ext>
            </a:extLst>
          </p:cNvPr>
          <p:cNvSpPr txBox="1"/>
          <p:nvPr/>
        </p:nvSpPr>
        <p:spPr>
          <a:xfrm>
            <a:off x="10911840" y="4533029"/>
            <a:ext cx="575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</a:rPr>
              <a:t>特征行</a:t>
            </a:r>
          </a:p>
        </p:txBody>
      </p:sp>
      <p:sp>
        <p:nvSpPr>
          <p:cNvPr id="283" name="箭头: 右 282">
            <a:extLst>
              <a:ext uri="{FF2B5EF4-FFF2-40B4-BE49-F238E27FC236}">
                <a16:creationId xmlns:a16="http://schemas.microsoft.com/office/drawing/2014/main" id="{A8717E5A-5DFF-1A11-EE71-A63CE1613B12}"/>
              </a:ext>
            </a:extLst>
          </p:cNvPr>
          <p:cNvSpPr/>
          <p:nvPr/>
        </p:nvSpPr>
        <p:spPr>
          <a:xfrm>
            <a:off x="4883573" y="1730939"/>
            <a:ext cx="471425" cy="97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36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167</Words>
  <Application>Microsoft Office PowerPoint</Application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宋体</vt:lpstr>
      <vt:lpstr>Microsoft YaHei</vt:lpstr>
      <vt:lpstr>Microsoft YaHei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路</dc:creator>
  <cp:lastModifiedBy>晨 路</cp:lastModifiedBy>
  <cp:revision>10</cp:revision>
  <dcterms:created xsi:type="dcterms:W3CDTF">2026-09-24T14:49:49Z</dcterms:created>
  <dcterms:modified xsi:type="dcterms:W3CDTF">2026-09-25T09:52:20Z</dcterms:modified>
</cp:coreProperties>
</file>